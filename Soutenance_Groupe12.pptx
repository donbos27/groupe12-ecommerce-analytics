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0770BCD-BE39-4947-B0F3-BC183FBB2F1E}">
  <a:tblStyle styleId="{D0770BCD-BE39-4947-B0F3-BC183FBB2F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4" name="Google Shape;31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16" name="Google Shape;1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85800"/>
            <a:ext cx="2651760" cy="98023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/>
          <p:nvPr/>
        </p:nvSpPr>
        <p:spPr>
          <a:xfrm>
            <a:off x="685800" y="1965960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MASTER 1  ·  MODULE DATA ENGINEER — SPARK &amp; SCALA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685800" y="2377440"/>
            <a:ext cx="96012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Système d’analyse de données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e-commerce distribué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685800" y="3977640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Ingestion multi-format, audit de qualité, enrichissement distribué et analyse de la rétention client.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p3"/>
          <p:cNvCxnSpPr/>
          <p:nvPr/>
        </p:nvCxnSpPr>
        <p:spPr>
          <a:xfrm>
            <a:off x="685800" y="4709160"/>
            <a:ext cx="10817352" cy="0"/>
          </a:xfrm>
          <a:prstGeom prst="straightConnector1">
            <a:avLst/>
          </a:prstGeom>
          <a:noFill/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" name="Google Shape;21;p3"/>
          <p:cNvSpPr txBox="1"/>
          <p:nvPr/>
        </p:nvSpPr>
        <p:spPr>
          <a:xfrm>
            <a:off x="685800" y="49377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GROUPE </a:t>
            </a:r>
            <a:r>
              <a:rPr b="1" lang="en-US" sz="120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b="1" i="0" lang="en-US" sz="1200" u="none" cap="none" strike="noStrike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  ·  PROJET FINAL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685800" y="5285232"/>
            <a:ext cx="4754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BUKA BOSENGA Don-Christ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ADIGBONON Mahoutondji Thérèse Rodica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577840" y="5285232"/>
            <a:ext cx="4754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DOUTI Dabilibe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CISSE Abdoulahi dit Dioro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8759952" y="49377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Septembre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Le projet en chiffres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31" name="Google Shape;3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4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Résultats de l’exécution complète du pipeline sur les données fournies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85800" y="1783080"/>
            <a:ext cx="2505456" cy="2286000"/>
          </a:xfrm>
          <a:prstGeom prst="roundRect">
            <a:avLst>
              <a:gd fmla="val 480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 txBox="1"/>
          <p:nvPr/>
        </p:nvSpPr>
        <p:spPr>
          <a:xfrm>
            <a:off x="941832" y="1993392"/>
            <a:ext cx="2048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3400"/>
              <a:buFont typeface="Calibri"/>
              <a:buNone/>
            </a:pPr>
            <a:r>
              <a:rPr b="1" lang="en-US" sz="34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941832" y="2880360"/>
            <a:ext cx="2048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sources hétérogènes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941832" y="3218688"/>
            <a:ext cx="2048256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CSV · JSON · Parquet · CSV inféré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3456432" y="1783080"/>
            <a:ext cx="2505456" cy="2286000"/>
          </a:xfrm>
          <a:prstGeom prst="roundRect">
            <a:avLst>
              <a:gd fmla="val 480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3712464" y="1993392"/>
            <a:ext cx="2048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400"/>
              <a:buFont typeface="Calibri"/>
              <a:buNone/>
            </a:pPr>
            <a:r>
              <a:rPr b="1" lang="en-US" sz="34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156 647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/>
          <p:nvPr/>
        </p:nvSpPr>
        <p:spPr>
          <a:xfrm>
            <a:off x="3712464" y="2880360"/>
            <a:ext cx="2048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lignes ingérées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 txBox="1"/>
          <p:nvPr/>
        </p:nvSpPr>
        <p:spPr>
          <a:xfrm>
            <a:off x="3712464" y="3218688"/>
            <a:ext cx="2048256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dont 138 047 transactions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227064" y="1783080"/>
            <a:ext cx="2505456" cy="2286000"/>
          </a:xfrm>
          <a:prstGeom prst="roundRect">
            <a:avLst>
              <a:gd fmla="val 480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6483096" y="1993392"/>
            <a:ext cx="2048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3400"/>
              <a:buFont typeface="Calibri"/>
              <a:buNone/>
            </a:pPr>
            <a:r>
              <a:rPr b="1" lang="en-US" sz="340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98,4 %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 txBox="1"/>
          <p:nvPr/>
        </p:nvSpPr>
        <p:spPr>
          <a:xfrm>
            <a:off x="6483096" y="2880360"/>
            <a:ext cx="2048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de lignes valides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 txBox="1"/>
          <p:nvPr/>
        </p:nvSpPr>
        <p:spPr>
          <a:xfrm>
            <a:off x="6483096" y="3218688"/>
            <a:ext cx="2048256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154 219 conservées après validation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8997696" y="1783080"/>
            <a:ext cx="2505456" cy="2286000"/>
          </a:xfrm>
          <a:prstGeom prst="roundRect">
            <a:avLst>
              <a:gd fmla="val 480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9253728" y="1993392"/>
            <a:ext cx="2048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3400"/>
              <a:buFont typeface="Calibri"/>
              <a:buNone/>
            </a:pPr>
            <a:r>
              <a:rPr b="1" lang="en-US" sz="34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 txBox="1"/>
          <p:nvPr/>
        </p:nvSpPr>
        <p:spPr>
          <a:xfrm>
            <a:off x="9253728" y="2880360"/>
            <a:ext cx="2048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cohortes analysées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 txBox="1"/>
          <p:nvPr/>
        </p:nvSpPr>
        <p:spPr>
          <a:xfrm>
            <a:off x="9253728" y="3218688"/>
            <a:ext cx="2048256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 janvier 2024 à décembre 2025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685800" y="4526280"/>
            <a:ext cx="10817352" cy="1463040"/>
          </a:xfrm>
          <a:prstGeom prst="roundRect">
            <a:avLst>
              <a:gd fmla="val 750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1005840" y="4709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Ce que le pipeline produit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1005840" y="5193792"/>
            <a:ext cx="100584" cy="100584"/>
          </a:xfrm>
          <a:prstGeom prst="ellipse">
            <a:avLst/>
          </a:prstGeom>
          <a:solidFill>
            <a:srgbClr val="38BDF8"/>
          </a:solidFill>
          <a:ln cap="flat" cmpd="sng" w="1270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1207008" y="51023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Rapport de qualité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1207008" y="5376672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 ligne par dataset, exporté en CSV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3630168" y="5193792"/>
            <a:ext cx="100584" cy="100584"/>
          </a:xfrm>
          <a:prstGeom prst="ellipse">
            <a:avLst/>
          </a:prstGeom>
          <a:solidFill>
            <a:srgbClr val="38BDF8"/>
          </a:solidFill>
          <a:ln cap="flat" cmpd="sng" w="1270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3831336" y="51023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Données enrichies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3831336" y="5376672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136 157 transactions, CSV et Parquet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6254496" y="5193792"/>
            <a:ext cx="100584" cy="100584"/>
          </a:xfrm>
          <a:prstGeom prst="ellipse">
            <a:avLst/>
          </a:prstGeom>
          <a:solidFill>
            <a:srgbClr val="38BDF8"/>
          </a:solidFill>
          <a:ln cap="flat" cmpd="sng" w="1270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6455664" y="51023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Rapport marchand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6455664" y="5376672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KPI, classements et ventes par tranche d’âge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8878824" y="5193792"/>
            <a:ext cx="100584" cy="100584"/>
          </a:xfrm>
          <a:prstGeom prst="ellipse">
            <a:avLst/>
          </a:prstGeom>
          <a:solidFill>
            <a:srgbClr val="38BDF8"/>
          </a:solidFill>
          <a:ln cap="flat" cmpd="sng" w="1270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9079992" y="51023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Matrice de rétention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9079992" y="5376672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24 cohortes × périodes, taux en %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Architecture du pipeline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70" name="Google Shape;7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5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Six étapes, chacune isolée dans son module Scala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685800" y="1783080"/>
            <a:ext cx="3410712" cy="1965960"/>
          </a:xfrm>
          <a:prstGeom prst="roundRect">
            <a:avLst>
              <a:gd fmla="val 5581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960120" y="1984248"/>
            <a:ext cx="731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1554480" y="1965960"/>
            <a:ext cx="231343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Ingestion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960120" y="2404872"/>
            <a:ext cx="286207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50"/>
              <a:buFont typeface="Consolas"/>
              <a:buNone/>
            </a:pPr>
            <a:r>
              <a:rPr lang="en-US" sz="105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DataIngestion.scala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960120" y="2715768"/>
            <a:ext cx="286207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Lecture typée des 4 sources, chemins issus d’application.conf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379976" y="1783080"/>
            <a:ext cx="3410712" cy="1965960"/>
          </a:xfrm>
          <a:prstGeom prst="roundRect">
            <a:avLst>
              <a:gd fmla="val 5581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4654296" y="1984248"/>
            <a:ext cx="731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5248656" y="1965960"/>
            <a:ext cx="231343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Validation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 txBox="1"/>
          <p:nvPr/>
        </p:nvSpPr>
        <p:spPr>
          <a:xfrm>
            <a:off x="4654296" y="2404872"/>
            <a:ext cx="286207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50"/>
              <a:buFont typeface="Consolas"/>
              <a:buNone/>
            </a:pPr>
            <a:r>
              <a:rPr lang="en-US" sz="105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DataValidation.scala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4654296" y="2715768"/>
            <a:ext cx="286207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Règles métier, lignes rejetées conservées avec leur motif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8074152" y="1783080"/>
            <a:ext cx="3410712" cy="1965960"/>
          </a:xfrm>
          <a:prstGeom prst="roundRect">
            <a:avLst>
              <a:gd fmla="val 5581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8348472" y="1984248"/>
            <a:ext cx="731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8942832" y="1965960"/>
            <a:ext cx="231343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Qualité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8348472" y="2404872"/>
            <a:ext cx="286207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50"/>
              <a:buFont typeface="Consolas"/>
              <a:buNone/>
            </a:pPr>
            <a:r>
              <a:rPr lang="en-US" sz="105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DataQualityReport.scala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8348472" y="2715768"/>
            <a:ext cx="286207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Synthèse par dataset, console et CSV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685800" y="4069080"/>
            <a:ext cx="3410712" cy="1965960"/>
          </a:xfrm>
          <a:prstGeom prst="roundRect">
            <a:avLst>
              <a:gd fmla="val 5581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 txBox="1"/>
          <p:nvPr/>
        </p:nvSpPr>
        <p:spPr>
          <a:xfrm>
            <a:off x="960120" y="4270248"/>
            <a:ext cx="731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 txBox="1"/>
          <p:nvPr/>
        </p:nvSpPr>
        <p:spPr>
          <a:xfrm>
            <a:off x="1554480" y="4251960"/>
            <a:ext cx="231343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Transformation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 txBox="1"/>
          <p:nvPr/>
        </p:nvSpPr>
        <p:spPr>
          <a:xfrm>
            <a:off x="960120" y="4690872"/>
            <a:ext cx="286207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50"/>
              <a:buFont typeface="Consolas"/>
              <a:buNone/>
            </a:pPr>
            <a:r>
              <a:rPr lang="en-US" sz="105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DataTransformation.scala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960120" y="5001768"/>
            <a:ext cx="286207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Jointures, UDF temporelle, fonctions de fenêtrage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4379976" y="4069080"/>
            <a:ext cx="3410712" cy="1965960"/>
          </a:xfrm>
          <a:prstGeom prst="roundRect">
            <a:avLst>
              <a:gd fmla="val 5581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 txBox="1"/>
          <p:nvPr/>
        </p:nvSpPr>
        <p:spPr>
          <a:xfrm>
            <a:off x="4654296" y="4270248"/>
            <a:ext cx="731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 txBox="1"/>
          <p:nvPr/>
        </p:nvSpPr>
        <p:spPr>
          <a:xfrm>
            <a:off x="5248656" y="4251960"/>
            <a:ext cx="231343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Analytique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 txBox="1"/>
          <p:nvPr/>
        </p:nvSpPr>
        <p:spPr>
          <a:xfrm>
            <a:off x="4654296" y="4690872"/>
            <a:ext cx="286207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50"/>
              <a:buFont typeface="Consolas"/>
              <a:buNone/>
            </a:pPr>
            <a:r>
              <a:rPr lang="en-US" sz="105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Analytics · CohortAnalysis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4654296" y="5001768"/>
            <a:ext cx="286207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KPI marchands et matrice de rétention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8074152" y="4069080"/>
            <a:ext cx="3410712" cy="1965960"/>
          </a:xfrm>
          <a:prstGeom prst="roundRect">
            <a:avLst>
              <a:gd fmla="val 5581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 txBox="1"/>
          <p:nvPr/>
        </p:nvSpPr>
        <p:spPr>
          <a:xfrm>
            <a:off x="8348472" y="4270248"/>
            <a:ext cx="731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 txBox="1"/>
          <p:nvPr/>
        </p:nvSpPr>
        <p:spPr>
          <a:xfrm>
            <a:off x="8942832" y="4251960"/>
            <a:ext cx="231343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Orchestration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 txBox="1"/>
          <p:nvPr/>
        </p:nvSpPr>
        <p:spPr>
          <a:xfrm>
            <a:off x="8348472" y="4690872"/>
            <a:ext cx="286207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50"/>
              <a:buFont typeface="Consolas"/>
              <a:buNone/>
            </a:pPr>
            <a:r>
              <a:rPr lang="en-US" sz="105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MainApp.scala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8348472" y="5001768"/>
            <a:ext cx="286207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Enchaînement, cache et écriture des résultats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Ingestion multi-format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109" name="Google Shape;10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6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Une stratégie de lecture différente par source, toutes typées en Dataset[T]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685800" y="1783080"/>
            <a:ext cx="2505456" cy="2743200"/>
          </a:xfrm>
          <a:prstGeom prst="roundRect">
            <a:avLst>
              <a:gd fmla="val 438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 txBox="1"/>
          <p:nvPr/>
        </p:nvSpPr>
        <p:spPr>
          <a:xfrm>
            <a:off x="941832" y="199339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CSV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 txBox="1"/>
          <p:nvPr/>
        </p:nvSpPr>
        <p:spPr>
          <a:xfrm>
            <a:off x="941832" y="2331720"/>
            <a:ext cx="20482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138 047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 txBox="1"/>
          <p:nvPr/>
        </p:nvSpPr>
        <p:spPr>
          <a:xfrm>
            <a:off x="941832" y="2880360"/>
            <a:ext cx="20482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Transactions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 txBox="1"/>
          <p:nvPr/>
        </p:nvSpPr>
        <p:spPr>
          <a:xfrm>
            <a:off x="941832" y="3291840"/>
            <a:ext cx="2048256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Schéma défini explicitement : montants, horodatages et identifiants typés.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3456432" y="1783080"/>
            <a:ext cx="2505456" cy="2743200"/>
          </a:xfrm>
          <a:prstGeom prst="roundRect">
            <a:avLst>
              <a:gd fmla="val 438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 txBox="1"/>
          <p:nvPr/>
        </p:nvSpPr>
        <p:spPr>
          <a:xfrm>
            <a:off x="3712464" y="199339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JSON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 txBox="1"/>
          <p:nvPr/>
        </p:nvSpPr>
        <p:spPr>
          <a:xfrm>
            <a:off x="3712464" y="2331720"/>
            <a:ext cx="20482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12 000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 txBox="1"/>
          <p:nvPr/>
        </p:nvSpPr>
        <p:spPr>
          <a:xfrm>
            <a:off x="3712464" y="2880360"/>
            <a:ext cx="20482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Utilisateurs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 txBox="1"/>
          <p:nvPr/>
        </p:nvSpPr>
        <p:spPr>
          <a:xfrm>
            <a:off x="3712464" y="3291840"/>
            <a:ext cx="2048256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Semi-structuré : démographie, revenu, segment, catégories préférées.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6227064" y="1783080"/>
            <a:ext cx="2505456" cy="2743200"/>
          </a:xfrm>
          <a:prstGeom prst="roundRect">
            <a:avLst>
              <a:gd fmla="val 438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 txBox="1"/>
          <p:nvPr/>
        </p:nvSpPr>
        <p:spPr>
          <a:xfrm>
            <a:off x="6483096" y="199339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Parquet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 txBox="1"/>
          <p:nvPr/>
        </p:nvSpPr>
        <p:spPr>
          <a:xfrm>
            <a:off x="6483096" y="2331720"/>
            <a:ext cx="20482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6 000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 txBox="1"/>
          <p:nvPr/>
        </p:nvSpPr>
        <p:spPr>
          <a:xfrm>
            <a:off x="6483096" y="2880360"/>
            <a:ext cx="20482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Produits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 txBox="1"/>
          <p:nvPr/>
        </p:nvSpPr>
        <p:spPr>
          <a:xfrm>
            <a:off x="6483096" y="3291840"/>
            <a:ext cx="2048256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Format binaire columnaire : prix, catégorie, note et stock.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8997696" y="1783080"/>
            <a:ext cx="2505456" cy="2743200"/>
          </a:xfrm>
          <a:prstGeom prst="roundRect">
            <a:avLst>
              <a:gd fmla="val 438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 txBox="1"/>
          <p:nvPr/>
        </p:nvSpPr>
        <p:spPr>
          <a:xfrm>
            <a:off x="9253728" y="199339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CSV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9253728" y="2331720"/>
            <a:ext cx="20482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600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 txBox="1"/>
          <p:nvPr/>
        </p:nvSpPr>
        <p:spPr>
          <a:xfrm>
            <a:off x="9253728" y="2880360"/>
            <a:ext cx="20482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Marchands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 txBox="1"/>
          <p:nvPr/>
        </p:nvSpPr>
        <p:spPr>
          <a:xfrm>
            <a:off x="9253728" y="3291840"/>
            <a:ext cx="2048256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Schéma inféré par Spark : catégorie, région, taux de commission.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685800" y="4754880"/>
            <a:ext cx="10817352" cy="1280160"/>
          </a:xfrm>
          <a:prstGeom prst="roundRect">
            <a:avLst>
              <a:gd fmla="val 8571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 txBox="1"/>
          <p:nvPr/>
        </p:nvSpPr>
        <p:spPr>
          <a:xfrm>
            <a:off x="1005840" y="498348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Chaque source est lue en Dataset[T] typé, via une case class dédiée.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 txBox="1"/>
          <p:nvPr/>
        </p:nvSpPr>
        <p:spPr>
          <a:xfrm>
            <a:off x="1005840" y="5349240"/>
            <a:ext cx="101772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Aucun chemin n’est codé en dur : tous proviennent d’application.conf, lu par ConfigLoader (question 7.1). Les erreurs de lecture sont capturées et signalées sans interrompre le reste du pipeline.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Validation et rapport de qualité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141" name="Google Shape;14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7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Les lignes rejetées ne sont pas perdues : elles sortent avec le motif du rejet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3" name="Google Shape;143;p7"/>
          <p:cNvGraphicFramePr/>
          <p:nvPr/>
        </p:nvGraphicFramePr>
        <p:xfrm>
          <a:off x="685800" y="17830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{D0770BCD-BE39-4947-B0F3-BC183FBB2F1E}</a:tableStyleId>
              </a:tblPr>
              <a:tblGrid>
                <a:gridCol w="1554475"/>
                <a:gridCol w="1005850"/>
                <a:gridCol w="1051550"/>
                <a:gridCol w="1051550"/>
                <a:gridCol w="1143000"/>
                <a:gridCol w="960125"/>
              </a:tblGrid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Dataset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Lues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Rejetées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Taux de rejet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Valeurs nulles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Transactions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138 047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136 157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1 890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1,37 %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940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Utilisateurs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12 000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11 655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2,88 %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Produits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6 000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5 821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179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2,98 %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Marchands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586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2,33 %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144" name="Google Shape;144;p7"/>
          <p:cNvSpPr/>
          <p:nvPr/>
        </p:nvSpPr>
        <p:spPr>
          <a:xfrm>
            <a:off x="7726680" y="1783080"/>
            <a:ext cx="3776472" cy="3063240"/>
          </a:xfrm>
          <a:prstGeom prst="roundRect">
            <a:avLst>
              <a:gd fmla="val 3582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 txBox="1"/>
          <p:nvPr/>
        </p:nvSpPr>
        <p:spPr>
          <a:xfrm>
            <a:off x="8001000" y="196596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Motifs de rejet des transactions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 txBox="1"/>
          <p:nvPr/>
        </p:nvSpPr>
        <p:spPr>
          <a:xfrm>
            <a:off x="8001000" y="2423160"/>
            <a:ext cx="1005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BF24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FBBF24"/>
                </a:solidFill>
                <a:latin typeface="Calibri"/>
                <a:ea typeface="Calibri"/>
                <a:cs typeface="Calibri"/>
                <a:sym typeface="Calibri"/>
              </a:rPr>
              <a:t>1 190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 txBox="1"/>
          <p:nvPr/>
        </p:nvSpPr>
        <p:spPr>
          <a:xfrm>
            <a:off x="9052560" y="2478024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amount ≤ 0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 txBox="1"/>
          <p:nvPr/>
        </p:nvSpPr>
        <p:spPr>
          <a:xfrm>
            <a:off x="8001000" y="3081528"/>
            <a:ext cx="1005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BF24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FBBF24"/>
                </a:solidFill>
                <a:latin typeface="Calibri"/>
                <a:ea typeface="Calibri"/>
                <a:cs typeface="Calibri"/>
                <a:sym typeface="Calibri"/>
              </a:rPr>
              <a:t>690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 txBox="1"/>
          <p:nvPr/>
        </p:nvSpPr>
        <p:spPr>
          <a:xfrm>
            <a:off x="9052560" y="3136392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timestamp ≠ 14 caractères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8001000" y="3739896"/>
            <a:ext cx="1005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BF24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FBBF24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 txBox="1"/>
          <p:nvPr/>
        </p:nvSpPr>
        <p:spPr>
          <a:xfrm>
            <a:off x="9052560" y="37947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les deux motifs à la fois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 txBox="1"/>
          <p:nvPr/>
        </p:nvSpPr>
        <p:spPr>
          <a:xfrm>
            <a:off x="8001000" y="434340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Une condition nulle compte comme un rejet : sans cela la ligne disparaîtrait des deux jeux.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685800" y="5166360"/>
            <a:ext cx="1081735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Chaque fonction de validation renvoie un couple (valides, rejetées + colonne rejection_reason). Le rapport est affiché en console et exporté en CSV dans output/data_quality_report.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Transformations avancées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161" name="Google Shape;16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8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Enrichissement des 136 157 transactions validées, sans en perdre une seule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685800" y="1783080"/>
            <a:ext cx="3410712" cy="2971800"/>
          </a:xfrm>
          <a:prstGeom prst="roundRect">
            <a:avLst>
              <a:gd fmla="val 3692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 txBox="1"/>
          <p:nvPr/>
        </p:nvSpPr>
        <p:spPr>
          <a:xfrm>
            <a:off x="960120" y="1993392"/>
            <a:ext cx="286207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UDF extractTimeFeatures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 txBox="1"/>
          <p:nvPr/>
        </p:nvSpPr>
        <p:spPr>
          <a:xfrm>
            <a:off x="960120" y="2423160"/>
            <a:ext cx="2862072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Une chaîne yyyyMMddHHmmss devient six caractéristiques : heure, jour, mois, week-end, période de la journée, heures ouvrées.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 txBox="1"/>
          <p:nvPr/>
        </p:nvSpPr>
        <p:spPr>
          <a:xfrm>
            <a:off x="960120" y="3794760"/>
            <a:ext cx="286207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Robuste : une valeur nulle ou mal formée donne des colonnes nulles, jamais une erreur.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4379976" y="1783080"/>
            <a:ext cx="3410712" cy="2971800"/>
          </a:xfrm>
          <a:prstGeom prst="roundRect">
            <a:avLst>
              <a:gd fmla="val 3692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 txBox="1"/>
          <p:nvPr/>
        </p:nvSpPr>
        <p:spPr>
          <a:xfrm>
            <a:off x="4654296" y="1993392"/>
            <a:ext cx="286207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Jointures d’enrichissement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 txBox="1"/>
          <p:nvPr/>
        </p:nvSpPr>
        <p:spPr>
          <a:xfrm>
            <a:off x="4654296" y="2423160"/>
            <a:ext cx="2862072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LEFT JOIN depuis les transactions vers les utilisateurs, produits et marchands, les trois tables étant diffusées (broadcast).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4654296" y="3794760"/>
            <a:ext cx="286207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Invariant vérifié : autant de lignes en sortie qu’en entrée.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8074152" y="1783080"/>
            <a:ext cx="3410712" cy="2971800"/>
          </a:xfrm>
          <a:prstGeom prst="roundRect">
            <a:avLst>
              <a:gd fmla="val 3692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8348472" y="1993392"/>
            <a:ext cx="286207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Fonctions de fenêtrage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8348472" y="2423160"/>
            <a:ext cx="2862072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Rang chronologique et nombre d’achats par client, montant cumulé sur 7 jours glissants, délai depuis l’achat précédent.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 txBox="1"/>
          <p:nvPr/>
        </p:nvSpPr>
        <p:spPr>
          <a:xfrm>
            <a:off x="8348472" y="3794760"/>
            <a:ext cx="286207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countDistinct étant interdit sur une fenêtre, les jours distincts passent par collect_set.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 txBox="1"/>
          <p:nvPr/>
        </p:nvSpPr>
        <p:spPr>
          <a:xfrm>
            <a:off x="685800" y="507492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La tranche d’âge du client est calculée ici : Jeune, Adulte, Âge Moyen, Senior — et Inconnu lorsque l’utilisateur est absent du référentiel.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9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Performance par marchand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183" name="Google Shape;18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9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Chiffre d’affaires, fréquentation et classements par catégorie et par région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5" name="Google Shape;185;p9"/>
          <p:cNvGraphicFramePr/>
          <p:nvPr/>
        </p:nvGraphicFramePr>
        <p:xfrm>
          <a:off x="685800" y="18745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{D0770BCD-BE39-4947-B0F3-BC183FBB2F1E}</a:tableStyleId>
              </a:tblPr>
              <a:tblGrid>
                <a:gridCol w="2286000"/>
                <a:gridCol w="1737350"/>
                <a:gridCol w="2834650"/>
                <a:gridCol w="1920250"/>
                <a:gridCol w="1143000"/>
                <a:gridCol w="896100"/>
              </a:tblGrid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Marchand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Catégorie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Région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Chiffre d’affaires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Transactions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Clients uniques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TechStore 225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Electronics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Grand Est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592 105 €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383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351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DigitalHub 258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Electronics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Provence-Alpes-Côte d’Azur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553 077 €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328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ElectroWorld 559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Electronics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Île-de-France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543 545 €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253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TechStore 112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Electronics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Provence-Alpes-Côte d’Azur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476 067 €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308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287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GadgetShop 262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Electronics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Provence-Alpes-Côte d’Azur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471 950 €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1F5F9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F1F5F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09725" marB="109725" marR="109725" marL="109725" anchor="ctr">
                    <a:lnL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2230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186" name="Google Shape;186;p9"/>
          <p:cNvSpPr/>
          <p:nvPr/>
        </p:nvSpPr>
        <p:spPr>
          <a:xfrm>
            <a:off x="685800" y="5166360"/>
            <a:ext cx="10817352" cy="1051560"/>
          </a:xfrm>
          <a:prstGeom prst="roundRect">
            <a:avLst>
              <a:gd fmla="val 10435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 txBox="1"/>
          <p:nvPr/>
        </p:nvSpPr>
        <p:spPr>
          <a:xfrm>
            <a:off x="1005840" y="5376672"/>
            <a:ext cx="10177272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Lecture métier : les cinq premiers marchands relèvent tous de l’électronique. Le classement par catégorie et par région, calculé par fonction de fenêtrage, permet de comparer chaque marchand à ses concurrents directs plutôt qu’au marché entier.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0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Rétention par cohorte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195" name="Google Shape;19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0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Les clients sont regroupés par mois de première transaction, puis suivis mois après mois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/>
          <p:nvPr/>
        </p:nvSpPr>
        <p:spPr>
          <a:xfrm>
            <a:off x="685800" y="1737360"/>
            <a:ext cx="7406640" cy="4069080"/>
          </a:xfrm>
          <a:prstGeom prst="roundRect">
            <a:avLst>
              <a:gd fmla="val 2697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1005840" y="1874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Cohorte 2024-01 — 680 clients initiaux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etention.png" id="199" name="Google Shape;199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8680" y="2240280"/>
            <a:ext cx="6949440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0"/>
          <p:cNvSpPr/>
          <p:nvPr/>
        </p:nvSpPr>
        <p:spPr>
          <a:xfrm>
            <a:off x="8321040" y="1737360"/>
            <a:ext cx="3182112" cy="1234440"/>
          </a:xfrm>
          <a:prstGeom prst="roundRect">
            <a:avLst>
              <a:gd fmla="val 8889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 txBox="1"/>
          <p:nvPr/>
        </p:nvSpPr>
        <p:spPr>
          <a:xfrm>
            <a:off x="8595360" y="1874520"/>
            <a:ext cx="2651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43,1 %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 txBox="1"/>
          <p:nvPr/>
        </p:nvSpPr>
        <p:spPr>
          <a:xfrm>
            <a:off x="8595360" y="2304288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 la cohorte revient dès le mois 1 — la perte se joue là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8321040" y="3154680"/>
            <a:ext cx="3182112" cy="1234440"/>
          </a:xfrm>
          <a:prstGeom prst="roundRect">
            <a:avLst>
              <a:gd fmla="val 8889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 txBox="1"/>
          <p:nvPr/>
        </p:nvSpPr>
        <p:spPr>
          <a:xfrm>
            <a:off x="8595360" y="3291840"/>
            <a:ext cx="2651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36,2 %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 txBox="1"/>
          <p:nvPr/>
        </p:nvSpPr>
        <p:spPr>
          <a:xfrm>
            <a:off x="8595360" y="3721608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meilleure rétention à 3 mois, cohorte 2025-06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8321040" y="4572000"/>
            <a:ext cx="3182112" cy="1234440"/>
          </a:xfrm>
          <a:prstGeom prst="roundRect">
            <a:avLst>
              <a:gd fmla="val 8889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 txBox="1"/>
          <p:nvPr/>
        </p:nvSpPr>
        <p:spPr>
          <a:xfrm>
            <a:off x="8595360" y="4709160"/>
            <a:ext cx="2651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3,1 %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 txBox="1"/>
          <p:nvPr/>
        </p:nvSpPr>
        <p:spPr>
          <a:xfrm>
            <a:off x="8595360" y="5138928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socle de clients encore actifs après 19 mois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 txBox="1"/>
          <p:nvPr/>
        </p:nvSpPr>
        <p:spPr>
          <a:xfrm>
            <a:off x="685800" y="59436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i="1"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Une cohorte récente n’a pas encore de valeur à 19 mois : la matrice se lit en diagonale, pas en colonne.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1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Optimisations et exécution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217" name="Google Shape;21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1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 pipeline complet s’exécute en moins d’une minute en local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1"/>
          <p:cNvSpPr/>
          <p:nvPr/>
        </p:nvSpPr>
        <p:spPr>
          <a:xfrm>
            <a:off x="685800" y="1783080"/>
            <a:ext cx="5257800" cy="1554480"/>
          </a:xfrm>
          <a:prstGeom prst="roundRect">
            <a:avLst>
              <a:gd fmla="val 7059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 txBox="1"/>
          <p:nvPr/>
        </p:nvSpPr>
        <p:spPr>
          <a:xfrm>
            <a:off x="1005840" y="2039112"/>
            <a:ext cx="4617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Broadcast des tables de référence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1"/>
          <p:cNvSpPr txBox="1"/>
          <p:nvPr/>
        </p:nvSpPr>
        <p:spPr>
          <a:xfrm>
            <a:off x="1005840" y="2441448"/>
            <a:ext cx="4617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Les trois référentiels tiennent en mémoire : ils sont diffusés aux exécuteurs plutôt que de redistribuer 138 000 transactions à chaque jointure.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6245352" y="1783080"/>
            <a:ext cx="5257800" cy="1554480"/>
          </a:xfrm>
          <a:prstGeom prst="roundRect">
            <a:avLst>
              <a:gd fmla="val 7059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1"/>
          <p:cNvSpPr txBox="1"/>
          <p:nvPr/>
        </p:nvSpPr>
        <p:spPr>
          <a:xfrm>
            <a:off x="6565392" y="2039112"/>
            <a:ext cx="4617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Cache mémoire et disque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1"/>
          <p:cNvSpPr txBox="1"/>
          <p:nvPr/>
        </p:nvSpPr>
        <p:spPr>
          <a:xfrm>
            <a:off x="6565392" y="2441448"/>
            <a:ext cx="4617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Les transactions validées et le jeu enrichi sont persistés, puis libérés en fin de traitement.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1"/>
          <p:cNvSpPr/>
          <p:nvPr/>
        </p:nvSpPr>
        <p:spPr>
          <a:xfrm>
            <a:off x="685800" y="3657600"/>
            <a:ext cx="5257800" cy="1554480"/>
          </a:xfrm>
          <a:prstGeom prst="roundRect">
            <a:avLst>
              <a:gd fmla="val 7059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1"/>
          <p:cNvSpPr txBox="1"/>
          <p:nvPr/>
        </p:nvSpPr>
        <p:spPr>
          <a:xfrm>
            <a:off x="1005840" y="3913632"/>
            <a:ext cx="4617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Partitions de shuffle réduites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 txBox="1"/>
          <p:nvPr/>
        </p:nvSpPr>
        <p:spPr>
          <a:xfrm>
            <a:off x="1005840" y="4315968"/>
            <a:ext cx="4617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spark.sql.shuffle.partitions ramené de 200 à 8 : sur ce volume, 200 partitions coûtent plus qu’elles ne rapportent.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1"/>
          <p:cNvSpPr/>
          <p:nvPr/>
        </p:nvSpPr>
        <p:spPr>
          <a:xfrm>
            <a:off x="6245352" y="3657600"/>
            <a:ext cx="5257800" cy="1554480"/>
          </a:xfrm>
          <a:prstGeom prst="roundRect">
            <a:avLst>
              <a:gd fmla="val 7059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 txBox="1"/>
          <p:nvPr/>
        </p:nvSpPr>
        <p:spPr>
          <a:xfrm>
            <a:off x="6565392" y="3913632"/>
            <a:ext cx="4617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Application unique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1"/>
          <p:cNvSpPr txBox="1"/>
          <p:nvPr/>
        </p:nvSpPr>
        <p:spPr>
          <a:xfrm>
            <a:off x="6565392" y="4315968"/>
            <a:ext cx="4617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MainApp enchaîne les six étapes, capture les erreurs et arrête proprement la SparkSession.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1"/>
          <p:cNvSpPr txBox="1"/>
          <p:nvPr/>
        </p:nvSpPr>
        <p:spPr>
          <a:xfrm>
            <a:off x="685800" y="54406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i="1"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Livraison : un JAR autonome généré par sbt assembly, exécutable via spark-submit.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1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2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Organisation du groupe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239" name="Google Shape;23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2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Quatre lots, un propriétaire par lot, une relecture par un autre membre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685800" y="1783080"/>
            <a:ext cx="2505456" cy="2560320"/>
          </a:xfrm>
          <a:prstGeom prst="roundRect">
            <a:avLst>
              <a:gd fmla="val 438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941832" y="2011680"/>
            <a:ext cx="384048" cy="384048"/>
          </a:xfrm>
          <a:prstGeom prst="ellipse">
            <a:avLst/>
          </a:prstGeom>
          <a:solidFill>
            <a:srgbClr val="141E33"/>
          </a:solidFill>
          <a:ln cap="flat" cmpd="sng" w="1270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2"/>
          <p:cNvSpPr txBox="1"/>
          <p:nvPr/>
        </p:nvSpPr>
        <p:spPr>
          <a:xfrm>
            <a:off x="941832" y="2057400"/>
            <a:ext cx="3840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 txBox="1"/>
          <p:nvPr/>
        </p:nvSpPr>
        <p:spPr>
          <a:xfrm>
            <a:off x="941832" y="2514600"/>
            <a:ext cx="20482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BUKA BOSENGA Don-Christ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 txBox="1"/>
          <p:nvPr/>
        </p:nvSpPr>
        <p:spPr>
          <a:xfrm>
            <a:off x="941832" y="3063240"/>
            <a:ext cx="2048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Platform &amp; Ingestion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2"/>
          <p:cNvSpPr txBox="1"/>
          <p:nvPr/>
        </p:nvSpPr>
        <p:spPr>
          <a:xfrm>
            <a:off x="941832" y="3383280"/>
            <a:ext cx="20482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1.1 à 1.3 · 2.1 · 2.3 · 7.1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2"/>
          <p:cNvSpPr/>
          <p:nvPr/>
        </p:nvSpPr>
        <p:spPr>
          <a:xfrm>
            <a:off x="3456432" y="1783080"/>
            <a:ext cx="2505456" cy="2560320"/>
          </a:xfrm>
          <a:prstGeom prst="roundRect">
            <a:avLst>
              <a:gd fmla="val 438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2"/>
          <p:cNvSpPr/>
          <p:nvPr/>
        </p:nvSpPr>
        <p:spPr>
          <a:xfrm>
            <a:off x="3712464" y="2011680"/>
            <a:ext cx="384048" cy="384048"/>
          </a:xfrm>
          <a:prstGeom prst="ellipse">
            <a:avLst/>
          </a:prstGeom>
          <a:solidFill>
            <a:srgbClr val="141E33"/>
          </a:solidFill>
          <a:ln cap="flat" cmpd="sng" w="1270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2"/>
          <p:cNvSpPr txBox="1"/>
          <p:nvPr/>
        </p:nvSpPr>
        <p:spPr>
          <a:xfrm>
            <a:off x="3712464" y="2057400"/>
            <a:ext cx="3840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2"/>
          <p:cNvSpPr txBox="1"/>
          <p:nvPr/>
        </p:nvSpPr>
        <p:spPr>
          <a:xfrm>
            <a:off x="3712464" y="2514600"/>
            <a:ext cx="20482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ADIGBONON Thérèse Rodica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 txBox="1"/>
          <p:nvPr/>
        </p:nvSpPr>
        <p:spPr>
          <a:xfrm>
            <a:off x="3712464" y="3063240"/>
            <a:ext cx="2048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Data Quality &amp; Cohortes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 txBox="1"/>
          <p:nvPr/>
        </p:nvSpPr>
        <p:spPr>
          <a:xfrm>
            <a:off x="3712464" y="3383280"/>
            <a:ext cx="20482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2.2 · 2.4 · 4.2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2"/>
          <p:cNvSpPr/>
          <p:nvPr/>
        </p:nvSpPr>
        <p:spPr>
          <a:xfrm>
            <a:off x="6227064" y="1783080"/>
            <a:ext cx="2505456" cy="2560320"/>
          </a:xfrm>
          <a:prstGeom prst="roundRect">
            <a:avLst>
              <a:gd fmla="val 438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2"/>
          <p:cNvSpPr/>
          <p:nvPr/>
        </p:nvSpPr>
        <p:spPr>
          <a:xfrm>
            <a:off x="6483096" y="2011680"/>
            <a:ext cx="384048" cy="384048"/>
          </a:xfrm>
          <a:prstGeom prst="ellipse">
            <a:avLst/>
          </a:prstGeom>
          <a:solidFill>
            <a:srgbClr val="141E33"/>
          </a:solidFill>
          <a:ln cap="flat" cmpd="sng" w="1270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2"/>
          <p:cNvSpPr txBox="1"/>
          <p:nvPr/>
        </p:nvSpPr>
        <p:spPr>
          <a:xfrm>
            <a:off x="6483096" y="2057400"/>
            <a:ext cx="3840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2"/>
          <p:cNvSpPr txBox="1"/>
          <p:nvPr/>
        </p:nvSpPr>
        <p:spPr>
          <a:xfrm>
            <a:off x="6483096" y="2514600"/>
            <a:ext cx="20482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DOUTI Dabilibe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2"/>
          <p:cNvSpPr txBox="1"/>
          <p:nvPr/>
        </p:nvSpPr>
        <p:spPr>
          <a:xfrm>
            <a:off x="6483096" y="3063240"/>
            <a:ext cx="2048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Transformation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2"/>
          <p:cNvSpPr txBox="1"/>
          <p:nvPr/>
        </p:nvSpPr>
        <p:spPr>
          <a:xfrm>
            <a:off x="6483096" y="3383280"/>
            <a:ext cx="20482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3.1 · 3.2 · 3.3 · bonus 3.4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2"/>
          <p:cNvSpPr/>
          <p:nvPr/>
        </p:nvSpPr>
        <p:spPr>
          <a:xfrm>
            <a:off x="8997696" y="1783080"/>
            <a:ext cx="2505456" cy="2560320"/>
          </a:xfrm>
          <a:prstGeom prst="roundRect">
            <a:avLst>
              <a:gd fmla="val 438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2"/>
          <p:cNvSpPr/>
          <p:nvPr/>
        </p:nvSpPr>
        <p:spPr>
          <a:xfrm>
            <a:off x="9253728" y="2011680"/>
            <a:ext cx="384048" cy="384048"/>
          </a:xfrm>
          <a:prstGeom prst="ellipse">
            <a:avLst/>
          </a:prstGeom>
          <a:solidFill>
            <a:srgbClr val="141E33"/>
          </a:solidFill>
          <a:ln cap="flat" cmpd="sng" w="1270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2"/>
          <p:cNvSpPr txBox="1"/>
          <p:nvPr/>
        </p:nvSpPr>
        <p:spPr>
          <a:xfrm>
            <a:off x="9253728" y="2057400"/>
            <a:ext cx="3840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2"/>
          <p:cNvSpPr txBox="1"/>
          <p:nvPr/>
        </p:nvSpPr>
        <p:spPr>
          <a:xfrm>
            <a:off x="9253728" y="2514600"/>
            <a:ext cx="20482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CISSE Abdoulahi Dioro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2"/>
          <p:cNvSpPr txBox="1"/>
          <p:nvPr/>
        </p:nvSpPr>
        <p:spPr>
          <a:xfrm>
            <a:off x="9253728" y="3063240"/>
            <a:ext cx="2048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Analytics &amp; Orchestration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2"/>
          <p:cNvSpPr txBox="1"/>
          <p:nvPr/>
        </p:nvSpPr>
        <p:spPr>
          <a:xfrm>
            <a:off x="9253728" y="3383280"/>
            <a:ext cx="20482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4.1 · 5.1 · 5.2 · 6.1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2"/>
          <p:cNvSpPr/>
          <p:nvPr/>
        </p:nvSpPr>
        <p:spPr>
          <a:xfrm>
            <a:off x="685800" y="4663440"/>
            <a:ext cx="10817352" cy="1371600"/>
          </a:xfrm>
          <a:prstGeom prst="roundRect">
            <a:avLst>
              <a:gd fmla="val 8000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2"/>
          <p:cNvSpPr txBox="1"/>
          <p:nvPr/>
        </p:nvSpPr>
        <p:spPr>
          <a:xfrm>
            <a:off x="1005840" y="48463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Traçabilité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2"/>
          <p:cNvSpPr txBox="1"/>
          <p:nvPr/>
        </p:nvSpPr>
        <p:spPr>
          <a:xfrm>
            <a:off x="1005840" y="5166360"/>
            <a:ext cx="1017727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Chaque membre commite depuis son poste sous son propre nom : la contribution de chacun est lisible dans git log. Les relectures croisées sont datées et motivées dans CONTRIBUTIONS.md, où figurent aussi les décisions techniques du groupe.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2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Décisions techniques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275" name="Google Shape;27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3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Cinq choix structurants, et pourquoi nous les avons faits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 txBox="1"/>
          <p:nvPr/>
        </p:nvSpPr>
        <p:spPr>
          <a:xfrm>
            <a:off x="685800" y="1783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3"/>
          <p:cNvSpPr txBox="1"/>
          <p:nvPr/>
        </p:nvSpPr>
        <p:spPr>
          <a:xfrm>
            <a:off x="1234440" y="178308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Spark 3.5.3 · Scala 2.12.18 · Java 17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 txBox="1"/>
          <p:nvPr/>
        </p:nvSpPr>
        <p:spPr>
          <a:xfrm>
            <a:off x="5257800" y="1783080"/>
            <a:ext cx="624535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Combinaison stable et documentée. Spark ne supporte pas Java au-delà de 17, contrainte qui a coûté une matinée de mise au point.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0" name="Google Shape;280;p13"/>
          <p:cNvCxnSpPr/>
          <p:nvPr/>
        </p:nvCxnSpPr>
        <p:spPr>
          <a:xfrm>
            <a:off x="685800" y="2587752"/>
            <a:ext cx="10817352" cy="0"/>
          </a:xfrm>
          <a:prstGeom prst="straightConnector1">
            <a:avLst/>
          </a:prstGeom>
          <a:noFill/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" name="Google Shape;281;p13"/>
          <p:cNvSpPr txBox="1"/>
          <p:nvPr/>
        </p:nvSpPr>
        <p:spPr>
          <a:xfrm>
            <a:off x="685800" y="26974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3"/>
          <p:cNvSpPr txBox="1"/>
          <p:nvPr/>
        </p:nvSpPr>
        <p:spPr>
          <a:xfrm>
            <a:off x="1234440" y="269748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LEFT JOIN depuis les transactions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3"/>
          <p:cNvSpPr txBox="1"/>
          <p:nvPr/>
        </p:nvSpPr>
        <p:spPr>
          <a:xfrm>
            <a:off x="5257800" y="2697480"/>
            <a:ext cx="624535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Une transaction dont le client ou le marchand est absent du référentiel reste un achat réel : elle est conservée avec des attributs nuls plutôt que supprimée.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4" name="Google Shape;284;p13"/>
          <p:cNvCxnSpPr/>
          <p:nvPr/>
        </p:nvCxnSpPr>
        <p:spPr>
          <a:xfrm>
            <a:off x="685800" y="3502152"/>
            <a:ext cx="10817352" cy="0"/>
          </a:xfrm>
          <a:prstGeom prst="straightConnector1">
            <a:avLst/>
          </a:prstGeom>
          <a:noFill/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5" name="Google Shape;285;p13"/>
          <p:cNvSpPr txBox="1"/>
          <p:nvPr/>
        </p:nvSpPr>
        <p:spPr>
          <a:xfrm>
            <a:off x="685800" y="3611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3"/>
          <p:cNvSpPr txBox="1"/>
          <p:nvPr/>
        </p:nvSpPr>
        <p:spPr>
          <a:xfrm>
            <a:off x="1234440" y="361188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Tables de référence diffusées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3"/>
          <p:cNvSpPr txBox="1"/>
          <p:nvPr/>
        </p:nvSpPr>
        <p:spPr>
          <a:xfrm>
            <a:off x="5257800" y="3611880"/>
            <a:ext cx="624535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12 000, 6 000 et 600 lignes tiennent en mémoire : le broadcast évite trois redistributions du jeu de transactions.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8" name="Google Shape;288;p13"/>
          <p:cNvCxnSpPr/>
          <p:nvPr/>
        </p:nvCxnSpPr>
        <p:spPr>
          <a:xfrm>
            <a:off x="685800" y="4416552"/>
            <a:ext cx="10817352" cy="0"/>
          </a:xfrm>
          <a:prstGeom prst="straightConnector1">
            <a:avLst/>
          </a:prstGeom>
          <a:noFill/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9" name="Google Shape;289;p13"/>
          <p:cNvSpPr txBox="1"/>
          <p:nvPr/>
        </p:nvSpPr>
        <p:spPr>
          <a:xfrm>
            <a:off x="685800" y="45262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3"/>
          <p:cNvSpPr txBox="1"/>
          <p:nvPr/>
        </p:nvSpPr>
        <p:spPr>
          <a:xfrm>
            <a:off x="1234440" y="452628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Sorties en CSV avec en-tête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3"/>
          <p:cNvSpPr txBox="1"/>
          <p:nvPr/>
        </p:nvSpPr>
        <p:spPr>
          <a:xfrm>
            <a:off x="5257800" y="4526280"/>
            <a:ext cx="624535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Les livrables sont destinés à une équipe métier et tiennent en quelques lignes : le Parquet n’apporterait rien ici, il est réservé au jeu enrichi.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2" name="Google Shape;292;p13"/>
          <p:cNvCxnSpPr/>
          <p:nvPr/>
        </p:nvCxnSpPr>
        <p:spPr>
          <a:xfrm>
            <a:off x="685800" y="5330952"/>
            <a:ext cx="10817352" cy="0"/>
          </a:xfrm>
          <a:prstGeom prst="straightConnector1">
            <a:avLst/>
          </a:prstGeom>
          <a:noFill/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3" name="Google Shape;293;p13"/>
          <p:cNvSpPr txBox="1"/>
          <p:nvPr/>
        </p:nvSpPr>
        <p:spPr>
          <a:xfrm>
            <a:off x="685800" y="54406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3"/>
          <p:cNvSpPr txBox="1"/>
          <p:nvPr/>
        </p:nvSpPr>
        <p:spPr>
          <a:xfrm>
            <a:off x="1234440" y="544068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JAR par sbt assembly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3"/>
          <p:cNvSpPr txBox="1"/>
          <p:nvPr/>
        </p:nvSpPr>
        <p:spPr>
          <a:xfrm>
            <a:off x="5257800" y="5440680"/>
            <a:ext cx="6245352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Un artefact autonome embarquant les dépendances, exécutable par spark-submit sans installation préalable.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3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4"/>
          <p:cNvSpPr txBox="1"/>
          <p:nvPr/>
        </p:nvSpPr>
        <p:spPr>
          <a:xfrm>
            <a:off x="685800" y="502920"/>
            <a:ext cx="90799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Bilan et limites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303" name="Google Shape;30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85832" y="548640"/>
            <a:ext cx="1417320" cy="5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14"/>
          <p:cNvSpPr txBox="1"/>
          <p:nvPr/>
        </p:nvSpPr>
        <p:spPr>
          <a:xfrm>
            <a:off x="685800" y="1097280"/>
            <a:ext cx="10817352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Ce qui fonctionne, et ce que nous savons devoir surveiller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4"/>
          <p:cNvSpPr/>
          <p:nvPr/>
        </p:nvSpPr>
        <p:spPr>
          <a:xfrm>
            <a:off x="685800" y="1783080"/>
            <a:ext cx="5294376" cy="3017520"/>
          </a:xfrm>
          <a:prstGeom prst="roundRect">
            <a:avLst>
              <a:gd fmla="val 3636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4"/>
          <p:cNvSpPr txBox="1"/>
          <p:nvPr/>
        </p:nvSpPr>
        <p:spPr>
          <a:xfrm>
            <a:off x="1005840" y="196596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Acquis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4"/>
          <p:cNvSpPr txBox="1"/>
          <p:nvPr/>
        </p:nvSpPr>
        <p:spPr>
          <a:xfrm>
            <a:off x="1005840" y="2377440"/>
            <a:ext cx="46634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Pipeline complet exécuté de bout en bout, ingestion comprise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40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Aucune ligne perdue : rejets isolés et motivés, invariants vérifiés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40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Chemins et seuils entièrement externalisés dans application.conf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40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Programmes de vérification dédiés pour la validation et la partie 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4"/>
          <p:cNvSpPr/>
          <p:nvPr/>
        </p:nvSpPr>
        <p:spPr>
          <a:xfrm>
            <a:off x="6208776" y="1783080"/>
            <a:ext cx="5294376" cy="3017520"/>
          </a:xfrm>
          <a:prstGeom prst="roundRect">
            <a:avLst>
              <a:gd fmla="val 3636" name="adj"/>
            </a:avLst>
          </a:prstGeom>
          <a:solidFill>
            <a:srgbClr val="141E33"/>
          </a:solidFill>
          <a:ln cap="flat" cmpd="sng" w="12700">
            <a:solidFill>
              <a:srgbClr val="22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4"/>
          <p:cNvSpPr txBox="1"/>
          <p:nvPr/>
        </p:nvSpPr>
        <p:spPr>
          <a:xfrm>
            <a:off x="6528816" y="196596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BF24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BBF24"/>
                </a:solidFill>
                <a:latin typeface="Calibri"/>
                <a:ea typeface="Calibri"/>
                <a:cs typeface="Calibri"/>
                <a:sym typeface="Calibri"/>
              </a:rPr>
              <a:t>Limites assumées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4"/>
          <p:cNvSpPr txBox="1"/>
          <p:nvPr/>
        </p:nvSpPr>
        <p:spPr>
          <a:xfrm>
            <a:off x="6528816" y="2377440"/>
            <a:ext cx="46634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La validation ne contrôle que la longueur de l’horodatage, pas sa validité de calendrier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Les KPI marchands regroupent sur la catégorie de la transaction, qui coïncide ici avec celle du marchand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Les montants sont des Double : arrondis flottants visibles sur les cumuls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F1F5F9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Exécution en local[*] : les gains du broadcast restent théoriques sans vrai cluster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4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5"/>
          <p:cNvSpPr txBox="1"/>
          <p:nvPr/>
        </p:nvSpPr>
        <p:spPr>
          <a:xfrm>
            <a:off x="685800" y="2514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MERCI DE VOTRE ATTENTION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5"/>
          <p:cNvSpPr txBox="1"/>
          <p:nvPr/>
        </p:nvSpPr>
        <p:spPr>
          <a:xfrm>
            <a:off x="685800" y="2880360"/>
            <a:ext cx="8686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4000"/>
              <a:buFont typeface="Calibri"/>
              <a:buNone/>
            </a:pPr>
            <a:r>
              <a:rPr b="1" lang="en-US" sz="40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Questions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5"/>
          <p:cNvSpPr txBox="1"/>
          <p:nvPr/>
        </p:nvSpPr>
        <p:spPr>
          <a:xfrm>
            <a:off x="685800" y="3794760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Groupe </a:t>
            </a:r>
            <a:r>
              <a:rPr lang="en-US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lang="en-US" sz="14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— Système d’analyse de données e-commerce · DIT, Master 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320" name="Google Shape;32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08592" y="5394960"/>
            <a:ext cx="2194560" cy="811987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5"/>
          <p:cNvSpPr txBox="1"/>
          <p:nvPr/>
        </p:nvSpPr>
        <p:spPr>
          <a:xfrm>
            <a:off x="11228832" y="63550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