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44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85800"/>
            <a:ext cx="2651760" cy="98023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96596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 ·  MODULE DATA ENGINEER — SPARK &amp; SCALA</a:t>
            </a:r>
            <a:endParaRPr lang="en-US" sz="1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23774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d’analyse de données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distribué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9776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multi-format, audit de qualité, enrichissement distribué et analyse de la rétention client.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4709160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68580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12  ·  PROJET FINAL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285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BOSENGA Don-Christ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ADIGBONON Mahoutondji Thérèse Rodica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5285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DOUTI Dabilibe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CISSE Abdoulahi dit Dioro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759952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chiffres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l’exécution complète du pipeline sur les données fournies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2505456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41832" y="199339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28803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hétérogènes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Parquet · CSV inféré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56432" y="1783080"/>
            <a:ext cx="2505456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3712464" y="199339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156 647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712464" y="28803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ingérées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712464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138 047 transactions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7064" y="1783080"/>
            <a:ext cx="2505456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6483096" y="199339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98,4 %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483096" y="28803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lignes valides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83096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154 219 conservées après validation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97696" y="1783080"/>
            <a:ext cx="2505456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9253728" y="199339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9253728" y="28803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cohortes analysées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253728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janvier 2024 à décembre 2025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5800" y="4526280"/>
            <a:ext cx="10817352" cy="1463040"/>
          </a:xfrm>
          <a:prstGeom prst="roundRect">
            <a:avLst>
              <a:gd name="adj" fmla="val 75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10058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pipeline produit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05840" y="5193792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1207008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qualité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207008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ligne par dataset, exporté en CSV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30168" y="5193792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7" name="Text 24"/>
          <p:cNvSpPr txBox="1"/>
          <p:nvPr/>
        </p:nvSpPr>
        <p:spPr>
          <a:xfrm>
            <a:off x="3831336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enrichies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831336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136 157 transactions, CSV et Parquet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54496" y="5193792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0" name="Text 27"/>
          <p:cNvSpPr txBox="1"/>
          <p:nvPr/>
        </p:nvSpPr>
        <p:spPr>
          <a:xfrm>
            <a:off x="6455664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marchand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55664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classements et ventes par tranche d’âge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878824" y="5193792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3" name="Text 30"/>
          <p:cNvSpPr txBox="1"/>
          <p:nvPr/>
        </p:nvSpPr>
        <p:spPr>
          <a:xfrm>
            <a:off x="9079992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rétention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079992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cohortes × périodes, taux en %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étapes, chacune isolée dans son module Scala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60120" y="1984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65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404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DataIngestion.scala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715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typée des 4 sources, chemins issus d’application.conf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9976" y="1783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4654296" y="1984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248656" y="1965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654296" y="2404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DataValidation.scala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2715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métier, lignes rejetées conservées avec leur motif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74152" y="1783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8348472" y="1984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942832" y="1965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404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DataQualityReport.scala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348472" y="2715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par dataset, console et CSV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" y="4069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960120" y="4270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554480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4690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DataTransformation.scala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5001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Jointures, UDF temporelle, fonctions de fenêtrage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79976" y="4069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4654296" y="4270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248656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654296" y="4690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· CohortAnalysis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654296" y="5001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marchands et matrice de rétention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74152" y="4069080"/>
            <a:ext cx="3410712" cy="1965960"/>
          </a:xfrm>
          <a:prstGeom prst="roundRect">
            <a:avLst>
              <a:gd name="adj" fmla="val 558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8348472" y="42702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942832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348472" y="46908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MainApp.scala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348472" y="5001768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Enchaînement, cache et écriture des résultats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multi-format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stratégie de lecture différente par source, toutes typées en Dataset[T]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2505456" cy="274320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41832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2331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28803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32918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défini explicitement : montants, horodatages et identifiants typés.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6432" y="1783080"/>
            <a:ext cx="2505456" cy="274320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3712464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712464" y="2331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3712464" y="28803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12464" y="32918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Semi-structuré : démographie, revenu, segment, catégories préférées.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27064" y="1783080"/>
            <a:ext cx="2505456" cy="274320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6483096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83096" y="2331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483096" y="28803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83096" y="32918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binaire columnaire : prix, catégorie, note et stock.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997696" y="1783080"/>
            <a:ext cx="2505456" cy="274320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9253728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253728" y="23317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9253728" y="28803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253728" y="32918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inféré par Spark : catégorie, région, taux de commission.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85800" y="4754880"/>
            <a:ext cx="10817352" cy="128016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10058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source est lue en Dataset[T] typé, via une case class dédiée.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534924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chemin n’est codé en dur : tous proviennent d’application.conf, lu par ConfigLoader (question 7.1). Les erreurs de lecture sont capturées et signalées sans interrompre le reste du pipeline.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et rapport de qualité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rejetées ne sont pas perdues : elles sortent avec le motif du rejet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Rejetées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rejet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nulles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138 047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136 157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11 655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5 821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83080"/>
            <a:ext cx="3776472" cy="3063240"/>
          </a:xfrm>
          <a:prstGeom prst="roundRect">
            <a:avLst>
              <a:gd name="adj" fmla="val 3582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7" name="Text 3"/>
          <p:cNvSpPr txBox="1"/>
          <p:nvPr/>
        </p:nvSpPr>
        <p:spPr>
          <a:xfrm>
            <a:off x="800100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de rejet des transactions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001000" y="2423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1 190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052560" y="2478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≤ 0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3081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905256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≠ 14 caractères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37398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05256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motifs à la fois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condition nulle compte comme un rejet : sans cela la ligne disparaîtrait des deux jeux.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1663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fonction de validation renvoie un couple (valides, rejetées + colonne rejection_reason). Le rapport est affiché en console et exporté en CSV dans output/data_quality_report.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avancées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des 136 157 transactions validées, sans en perdre une seule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3410712" cy="2971800"/>
          </a:xfrm>
          <a:prstGeom prst="roundRect">
            <a:avLst>
              <a:gd name="adj" fmla="val 3692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60120" y="199339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 extractTimeFeatures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42316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yyyyMMddHHmmss devient six caractéristiques : heure, jour, mois, week-end, période de la journée, heures ouvrées.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94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: une valeur nulle ou mal formée donne des colonnes nulles, jamais une erreur.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9976" y="1783080"/>
            <a:ext cx="3410712" cy="2971800"/>
          </a:xfrm>
          <a:prstGeom prst="roundRect">
            <a:avLst>
              <a:gd name="adj" fmla="val 3692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654296" y="199339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d’enrichissement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54296" y="242316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depuis les transactions vers les utilisateurs, produits et marchands, les trois tables étant diffusées (broadcast).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54296" y="3794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vérifié : autant de lignes en sortie qu’en entrée.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74152" y="1783080"/>
            <a:ext cx="3410712" cy="2971800"/>
          </a:xfrm>
          <a:prstGeom prst="roundRect">
            <a:avLst>
              <a:gd name="adj" fmla="val 3692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348472" y="199339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de fenêtrage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48472" y="242316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chronologique et nombre d’achats par client, montant cumulé sur 7 jours glissants, délai depuis l’achat précédent.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3794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countDistinct étant interdit sur une fenêtre, les jours distincts passent par collect_set.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0749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tranche d’âge du client est calculée ici : Jeune, Adulte, Âge Moyen, Senior — et Inconnu lorsque l’utilisateur est absent du référentiel.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par marchand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d’affaires, fréquentation et classements par catégorie et par région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17352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d’affaires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 uniques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TechStore 225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592 105 €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DigitalHub 258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d’Azur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553 077 €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ElectroWorld 559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Île-de-France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543 545 €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TechStore 112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d’Azur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476 067 €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GadgetShop 262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d’Azur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471 950 €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5166360"/>
            <a:ext cx="10817352" cy="1051560"/>
          </a:xfrm>
          <a:prstGeom prst="roundRect">
            <a:avLst>
              <a:gd name="adj" fmla="val 10435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7" name="Text 3"/>
          <p:cNvSpPr txBox="1"/>
          <p:nvPr/>
        </p:nvSpPr>
        <p:spPr>
          <a:xfrm>
            <a:off x="1005840" y="5376672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métier : les cinq premiers marchands relèvent tous de l’électronique. Le classement par catégorie et par région, calculé par fonction de fenêtrage, permet de comparer chaque marchand à ses concurrents directs plutôt qu’au marché entier.</a:t>
            </a:r>
            <a:endParaRPr lang="en-US" sz="1200" dirty="0"/>
          </a:p>
        </p:txBody>
      </p:sp>
      <p:sp>
        <p:nvSpPr>
          <p:cNvPr id="5" name="Text 4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par cohorte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sont regroupés par mois de première transaction, puis suivis mois après mois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37360"/>
            <a:ext cx="7406640" cy="4069080"/>
          </a:xfrm>
          <a:prstGeom prst="roundRect">
            <a:avLst>
              <a:gd name="adj" fmla="val 2697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2024-01 — 680 clients initiaux</a:t>
            </a:r>
            <a:endParaRPr lang="en-US" sz="1250" dirty="0"/>
          </a:p>
        </p:txBody>
      </p:sp>
      <p:pic>
        <p:nvPicPr>
          <p:cNvPr id="7" name="Image 1" descr="reten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40280"/>
            <a:ext cx="6949440" cy="3429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21040" y="1737360"/>
            <a:ext cx="3182112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9" name="Text 5"/>
          <p:cNvSpPr txBox="1"/>
          <p:nvPr/>
        </p:nvSpPr>
        <p:spPr>
          <a:xfrm>
            <a:off x="859536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43,1 %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2304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cohorte revient dès le mois 1 — la perte se joue là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321040" y="3154680"/>
            <a:ext cx="3182112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859536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36,2 %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3721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rétention à 3 mois, cohorte 2025-06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4572000"/>
            <a:ext cx="3182112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5" name="Text 11"/>
          <p:cNvSpPr txBox="1"/>
          <p:nvPr/>
        </p:nvSpPr>
        <p:spPr>
          <a:xfrm>
            <a:off x="8595360" y="4709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3,1 %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138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de clients encore actifs après 19 mois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59436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cohorte récente n’a pas encore de valeur à 19 mois : la matrice se lit en diagonale, pas en colonne.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 et exécution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complet s’exécute en moins d’une minute en local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005840" y="20391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des tables de référence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44144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référentiels tiennent en mémoire : ils sont diffusés aux exécuteurs plutôt que de redistribuer 138 000 transactions à chaque jointure.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45352" y="178308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565392" y="20391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mémoire et disque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65392" y="244144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validées et le jeu enrichi sont persistés, puis libérés en fin de traitement.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365760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1005840" y="39136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de shuffle réduites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31596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spark.sql.shuffle.partitions ramené de 200 à 8 : sur ce volume, 200 partitions coûtent plus qu’elles ne rapportent.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5352" y="365760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6565392" y="39136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unique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65392" y="431596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MainApp enchaîne les six étapes, capture les erreurs et arrête proprement la SparkSession.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4406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: un JAR autonome généré par sbt assembly, exécutable via spark-submit.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groupe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lots, un propriétaire par lot, une relecture par un autre membre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2505456" cy="256032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41832" y="2011680"/>
            <a:ext cx="384048" cy="38404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41832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25146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BOSENGA Don-Christ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Ingestion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3383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à 1.3 · 2.1 · 2.3 · 7.1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56432" y="1783080"/>
            <a:ext cx="2505456" cy="256032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712464" y="2011680"/>
            <a:ext cx="384048" cy="38404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3712464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12464" y="25146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ADIGBONON Thérèse Rodica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712464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Cohortes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712464" y="3383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2.4 · 4.2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27064" y="1783080"/>
            <a:ext cx="2505456" cy="256032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483096" y="2011680"/>
            <a:ext cx="384048" cy="38404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6483096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83096" y="25146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DOUTI Dabilibe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83096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483096" y="3383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3.2 · 3.3 · bonus 3.4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97696" y="1783080"/>
            <a:ext cx="2505456" cy="2560320"/>
          </a:xfrm>
          <a:prstGeom prst="roundRect">
            <a:avLst>
              <a:gd name="adj" fmla="val 438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9253728" y="2011680"/>
            <a:ext cx="384048" cy="38404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38BDF8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5" name="Text 22"/>
          <p:cNvSpPr txBox="1"/>
          <p:nvPr/>
        </p:nvSpPr>
        <p:spPr>
          <a:xfrm>
            <a:off x="9253728" y="2057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53728" y="25146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CISSE Abdoulahi Dioro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253728" y="3063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Orchestration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9253728" y="3383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5.1 · 5.2 · 6.1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85800" y="4663440"/>
            <a:ext cx="10817352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0" name="Text 27"/>
          <p:cNvSpPr txBox="1"/>
          <p:nvPr/>
        </p:nvSpPr>
        <p:spPr>
          <a:xfrm>
            <a:off x="100584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516636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membre commite depuis son poste sous son propre nom : la contribution de chacun est lisible dans git log. Les relectures croisées sont datées et motivées dans CONTRIBUTIONS.md, où figurent aussi les décisions techniques du groupe.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techniques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choix structurants, et pourquoi nous les avons faits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3.5.3 · Scala 2.12.18 · Java 17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257800" y="17830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stable et documentée. Spark ne supporte pas Java au-delà de 17, contrainte qui a coûté une matinée de mise au point.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2587752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697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depuis les transactions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26974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transaction dont le client ou le marchand est absent du référentiel reste un achat réel : elle est conservée avec des attributs nuls plutôt que supprimée.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3502152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68580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référence diffusées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36118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12 000, 6 000 et 600 lignes tiennent en mémoire : le broadcast évite trois redistributions du jeu de transactions.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416552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685800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526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en CSV avec en-tête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45262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livrables sont destinés à une équipe métier et tiennent en quelques lignes : le Parquet n’apporterait rien ici, il est réservé au jeu enrichi.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" y="5330952"/>
            <a:ext cx="10817352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685800" y="5440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5440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par sbt assembly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257800" y="5440680"/>
            <a:ext cx="6245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artefact autonome embarquant les dépendances, exécutable par spark-submit sans installation préalable.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limites</a:t>
            </a:r>
            <a:endParaRPr lang="en-US" sz="3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548640"/>
            <a:ext cx="1417320" cy="523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0972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fonctionne, et ce que nous savons devoir surveiller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5294376" cy="3017520"/>
          </a:xfrm>
          <a:prstGeom prst="roundRect">
            <a:avLst>
              <a:gd name="adj" fmla="val 3636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00584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3774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exécuté de bout en bout, ingestion comprise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ligne perdue : rejets isolés et motivés, invariants vérifiés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et seuils entièrement externalisés dans application.conf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de vérification dédiés pour la validation et la partie 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8776" y="1783080"/>
            <a:ext cx="5294376" cy="3017520"/>
          </a:xfrm>
          <a:prstGeom prst="roundRect">
            <a:avLst>
              <a:gd name="adj" fmla="val 3636"/>
            </a:avLst>
          </a:prstGeom>
          <a:solidFill>
            <a:srgbClr val="141E33"/>
          </a:solidFill>
          <a:ln w="12700">
            <a:solidFill>
              <a:srgbClr val="22304A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528816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23774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ne contrôle que la longueur de l’horodatage, pas sa validité de calendrier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KPI marchands regroupent sur la catégorie de la transaction, qui coïncide ici avec celle du marchand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montants sont des Double : arrondis flottants visibles sur les cumuls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en local[*] : les gains du broadcast restent théoriques sans vrai cluster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880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Système d’analyse de données e-commerce · DIT, Master 1</a:t>
            </a:r>
            <a:endParaRPr lang="en-US" sz="14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5394960"/>
            <a:ext cx="2194560" cy="8119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22883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1416</Words>
  <Application>Microsoft Macintosh PowerPoint</Application>
  <PresentationFormat>Widescreen</PresentationFormat>
  <Paragraphs>269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donbosenga@outlook.com</cp:lastModifiedBy>
  <cp:revision>2</cp:revision>
  <dcterms:created xsi:type="dcterms:W3CDTF">2026-09-04T21:34:35Z</dcterms:created>
  <dcterms:modified xsi:type="dcterms:W3CDTF">2026-09-04T23:30:03Z</dcterms:modified>
</cp:coreProperties>
</file>