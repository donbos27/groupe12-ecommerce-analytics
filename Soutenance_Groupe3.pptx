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85800"/>
            <a:ext cx="2651760" cy="98023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196596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1  ·  MODULE DATA ENGINEER — SPARK &amp; SCALA</a:t>
            </a:r>
            <a:endParaRPr lang="en-US" sz="125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237744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d’analyse de données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distribué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397764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multi-format, audit de qualité, enrichissement distribué et analyse de la rétention client.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85800" y="4709160"/>
            <a:ext cx="10817352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  <p:txBody>
          <a:bodyPr anchor="t"/>
          <a:p/>
        </p:txBody>
      </p:sp>
      <p:sp>
        <p:nvSpPr>
          <p:cNvPr id="7" name="Text 4"/>
          <p:cNvSpPr txBox="1"/>
          <p:nvPr/>
        </p:nvSpPr>
        <p:spPr>
          <a:xfrm>
            <a:off x="685800" y="4937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3  ·  PROJET FINAL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528523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BOSENGA Don-Christ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ADIGBONON Mahoutondji Thérèse Rodica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577840" y="528523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DOUTI Dabilibe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CISSE Abdoulahi dit Dioro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759952" y="4937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Septembre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9079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en chiffres</a:t>
            </a:r>
            <a:endParaRPr lang="en-US" sz="3000" dirty="0"/>
          </a:p>
        </p:txBody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5832" y="548640"/>
            <a:ext cx="1417320" cy="52395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109728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de l’exécution complète du pipeline sur les données fournies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85800" y="1783080"/>
            <a:ext cx="2505456" cy="2286000"/>
          </a:xfrm>
          <a:prstGeom prst="roundRect">
            <a:avLst>
              <a:gd name="adj" fmla="val 4800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p/>
        </p:txBody>
      </p:sp>
      <p:sp>
        <p:nvSpPr>
          <p:cNvPr id="6" name="Text 3"/>
          <p:cNvSpPr txBox="1"/>
          <p:nvPr/>
        </p:nvSpPr>
        <p:spPr>
          <a:xfrm>
            <a:off x="941832" y="1993392"/>
            <a:ext cx="2048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941832" y="288036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hétérogènes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941832" y="3218688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· JSON · Parquet · CSV inféré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56432" y="1783080"/>
            <a:ext cx="2505456" cy="2286000"/>
          </a:xfrm>
          <a:prstGeom prst="roundRect">
            <a:avLst>
              <a:gd name="adj" fmla="val 4800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p/>
        </p:txBody>
      </p:sp>
      <p:sp>
        <p:nvSpPr>
          <p:cNvPr id="10" name="Text 7"/>
          <p:cNvSpPr txBox="1"/>
          <p:nvPr/>
        </p:nvSpPr>
        <p:spPr>
          <a:xfrm>
            <a:off x="3712464" y="1993392"/>
            <a:ext cx="2048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156 647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3712464" y="288036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ingérées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712464" y="3218688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dont 138 047 transactions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27064" y="1783080"/>
            <a:ext cx="2505456" cy="2286000"/>
          </a:xfrm>
          <a:prstGeom prst="roundRect">
            <a:avLst>
              <a:gd name="adj" fmla="val 4800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p/>
        </p:txBody>
      </p:sp>
      <p:sp>
        <p:nvSpPr>
          <p:cNvPr id="14" name="Text 11"/>
          <p:cNvSpPr txBox="1"/>
          <p:nvPr/>
        </p:nvSpPr>
        <p:spPr>
          <a:xfrm>
            <a:off x="6483096" y="1993392"/>
            <a:ext cx="2048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98,4 %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6483096" y="288036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lignes valides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483096" y="3218688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154 219 conservées après validation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997696" y="1783080"/>
            <a:ext cx="2505456" cy="2286000"/>
          </a:xfrm>
          <a:prstGeom prst="roundRect">
            <a:avLst>
              <a:gd name="adj" fmla="val 4800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p/>
        </p:txBody>
      </p:sp>
      <p:sp>
        <p:nvSpPr>
          <p:cNvPr id="18" name="Text 15"/>
          <p:cNvSpPr txBox="1"/>
          <p:nvPr/>
        </p:nvSpPr>
        <p:spPr>
          <a:xfrm>
            <a:off x="9253728" y="1993392"/>
            <a:ext cx="2048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3400" dirty="0"/>
          </a:p>
        </p:txBody>
      </p:sp>
      <p:sp>
        <p:nvSpPr>
          <p:cNvPr id="19" name="Text 16"/>
          <p:cNvSpPr txBox="1"/>
          <p:nvPr/>
        </p:nvSpPr>
        <p:spPr>
          <a:xfrm>
            <a:off x="9253728" y="288036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cohortes analysées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9253728" y="3218688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janvier 2024 à décembre 2025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85800" y="4526280"/>
            <a:ext cx="10817352" cy="1463040"/>
          </a:xfrm>
          <a:prstGeom prst="roundRect">
            <a:avLst>
              <a:gd name="adj" fmla="val 7500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p/>
        </p:txBody>
      </p:sp>
      <p:sp>
        <p:nvSpPr>
          <p:cNvPr id="22" name="Text 19"/>
          <p:cNvSpPr txBox="1"/>
          <p:nvPr/>
        </p:nvSpPr>
        <p:spPr>
          <a:xfrm>
            <a:off x="10058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pipeline produit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1005840" y="5193792"/>
            <a:ext cx="100584" cy="10058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 anchor="t"/>
          <a:p/>
        </p:txBody>
      </p:sp>
      <p:sp>
        <p:nvSpPr>
          <p:cNvPr id="24" name="Text 21"/>
          <p:cNvSpPr txBox="1"/>
          <p:nvPr/>
        </p:nvSpPr>
        <p:spPr>
          <a:xfrm>
            <a:off x="1207008" y="51023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de qualité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207008" y="53766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ligne par dataset, exporté en CSV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630168" y="5193792"/>
            <a:ext cx="100584" cy="10058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 anchor="t"/>
          <a:p/>
        </p:txBody>
      </p:sp>
      <p:sp>
        <p:nvSpPr>
          <p:cNvPr id="27" name="Text 24"/>
          <p:cNvSpPr txBox="1"/>
          <p:nvPr/>
        </p:nvSpPr>
        <p:spPr>
          <a:xfrm>
            <a:off x="3831336" y="51023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enrichies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3831336" y="53766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136 157 transactions, CSV et Parquet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254496" y="5193792"/>
            <a:ext cx="100584" cy="10058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 anchor="t"/>
          <a:p/>
        </p:txBody>
      </p:sp>
      <p:sp>
        <p:nvSpPr>
          <p:cNvPr id="30" name="Text 27"/>
          <p:cNvSpPr txBox="1"/>
          <p:nvPr/>
        </p:nvSpPr>
        <p:spPr>
          <a:xfrm>
            <a:off x="6455664" y="51023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marchand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455664" y="53766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KPI, classements et ventes par tranche d’âge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878824" y="5193792"/>
            <a:ext cx="100584" cy="10058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 anchor="t"/>
          <a:p/>
        </p:txBody>
      </p:sp>
      <p:sp>
        <p:nvSpPr>
          <p:cNvPr id="33" name="Text 30"/>
          <p:cNvSpPr txBox="1"/>
          <p:nvPr/>
        </p:nvSpPr>
        <p:spPr>
          <a:xfrm>
            <a:off x="9079992" y="51023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 rétention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9079992" y="53766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cohortes × périodes, taux en %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1122883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9079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pipeline</a:t>
            </a:r>
            <a:endParaRPr lang="en-US" sz="3000" dirty="0"/>
          </a:p>
        </p:txBody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5832" y="548640"/>
            <a:ext cx="1417320" cy="52395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109728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étapes, chacune isolée dans son module Scala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85800" y="1783080"/>
            <a:ext cx="3410712" cy="1965960"/>
          </a:xfrm>
          <a:prstGeom prst="roundRect">
            <a:avLst>
              <a:gd name="adj" fmla="val 5581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p/>
        </p:txBody>
      </p:sp>
      <p:sp>
        <p:nvSpPr>
          <p:cNvPr id="6" name="Text 3"/>
          <p:cNvSpPr txBox="1"/>
          <p:nvPr/>
        </p:nvSpPr>
        <p:spPr>
          <a:xfrm>
            <a:off x="960120" y="198424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965960"/>
            <a:ext cx="231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2404872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DataIngestion.scala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2715768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typée des 4 sources, chemins issus d’application.conf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79976" y="1783080"/>
            <a:ext cx="3410712" cy="1965960"/>
          </a:xfrm>
          <a:prstGeom prst="roundRect">
            <a:avLst>
              <a:gd name="adj" fmla="val 5581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p/>
        </p:txBody>
      </p:sp>
      <p:sp>
        <p:nvSpPr>
          <p:cNvPr id="11" name="Text 8"/>
          <p:cNvSpPr txBox="1"/>
          <p:nvPr/>
        </p:nvSpPr>
        <p:spPr>
          <a:xfrm>
            <a:off x="4654296" y="198424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248656" y="1965960"/>
            <a:ext cx="231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654296" y="2404872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DataValidation.scala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654296" y="2715768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métier, lignes rejetées conservées avec leur motif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074152" y="1783080"/>
            <a:ext cx="3410712" cy="1965960"/>
          </a:xfrm>
          <a:prstGeom prst="roundRect">
            <a:avLst>
              <a:gd name="adj" fmla="val 5581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p/>
        </p:txBody>
      </p:sp>
      <p:sp>
        <p:nvSpPr>
          <p:cNvPr id="16" name="Text 13"/>
          <p:cNvSpPr txBox="1"/>
          <p:nvPr/>
        </p:nvSpPr>
        <p:spPr>
          <a:xfrm>
            <a:off x="8348472" y="198424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942832" y="1965960"/>
            <a:ext cx="231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348472" y="2404872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DataQualityReport.scala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8348472" y="2715768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par dataset, console et CSV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85800" y="4069080"/>
            <a:ext cx="3410712" cy="1965960"/>
          </a:xfrm>
          <a:prstGeom prst="roundRect">
            <a:avLst>
              <a:gd name="adj" fmla="val 5581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p/>
        </p:txBody>
      </p:sp>
      <p:sp>
        <p:nvSpPr>
          <p:cNvPr id="21" name="Text 18"/>
          <p:cNvSpPr txBox="1"/>
          <p:nvPr/>
        </p:nvSpPr>
        <p:spPr>
          <a:xfrm>
            <a:off x="960120" y="427024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554480" y="4251960"/>
            <a:ext cx="231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960120" y="4690872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DataTransformation.scala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960120" y="5001768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Jointures, UDF temporelle, fonctions de fenêtrage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379976" y="4069080"/>
            <a:ext cx="3410712" cy="1965960"/>
          </a:xfrm>
          <a:prstGeom prst="roundRect">
            <a:avLst>
              <a:gd name="adj" fmla="val 5581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p/>
        </p:txBody>
      </p:sp>
      <p:sp>
        <p:nvSpPr>
          <p:cNvPr id="26" name="Text 23"/>
          <p:cNvSpPr txBox="1"/>
          <p:nvPr/>
        </p:nvSpPr>
        <p:spPr>
          <a:xfrm>
            <a:off x="4654296" y="427024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248656" y="4251960"/>
            <a:ext cx="231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Analytique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4654296" y="4690872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 · CohortAnalysis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4654296" y="5001768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marchands et matrice de rétention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8074152" y="4069080"/>
            <a:ext cx="3410712" cy="1965960"/>
          </a:xfrm>
          <a:prstGeom prst="roundRect">
            <a:avLst>
              <a:gd name="adj" fmla="val 5581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p/>
        </p:txBody>
      </p:sp>
      <p:sp>
        <p:nvSpPr>
          <p:cNvPr id="31" name="Text 28"/>
          <p:cNvSpPr txBox="1"/>
          <p:nvPr/>
        </p:nvSpPr>
        <p:spPr>
          <a:xfrm>
            <a:off x="8348472" y="427024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8942832" y="4251960"/>
            <a:ext cx="231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8348472" y="4690872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MainApp.scala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8348472" y="5001768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Enchaînement, cache et écriture des résultats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1122883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9079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multi-format</a:t>
            </a:r>
            <a:endParaRPr lang="en-US" sz="3000" dirty="0"/>
          </a:p>
        </p:txBody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5832" y="548640"/>
            <a:ext cx="1417320" cy="52395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109728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stratégie de lecture différente par source, toutes typées en Dataset[T]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85800" y="1783080"/>
            <a:ext cx="2505456" cy="2743200"/>
          </a:xfrm>
          <a:prstGeom prst="roundRect">
            <a:avLst>
              <a:gd name="adj" fmla="val 4380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p/>
        </p:txBody>
      </p:sp>
      <p:sp>
        <p:nvSpPr>
          <p:cNvPr id="6" name="Text 3"/>
          <p:cNvSpPr txBox="1"/>
          <p:nvPr/>
        </p:nvSpPr>
        <p:spPr>
          <a:xfrm>
            <a:off x="941832" y="19933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941832" y="2331720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138 047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941832" y="2880360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41832" y="3291840"/>
            <a:ext cx="20482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défini explicitement : montants, horodatages et identifiants typés.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56432" y="1783080"/>
            <a:ext cx="2505456" cy="2743200"/>
          </a:xfrm>
          <a:prstGeom prst="roundRect">
            <a:avLst>
              <a:gd name="adj" fmla="val 4380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p/>
        </p:txBody>
      </p:sp>
      <p:sp>
        <p:nvSpPr>
          <p:cNvPr id="11" name="Text 8"/>
          <p:cNvSpPr txBox="1"/>
          <p:nvPr/>
        </p:nvSpPr>
        <p:spPr>
          <a:xfrm>
            <a:off x="3712464" y="19933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3712464" y="2331720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12 000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3712464" y="2880360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712464" y="3291840"/>
            <a:ext cx="20482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Semi-structuré : démographie, revenu, segment, catégories préférées.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27064" y="1783080"/>
            <a:ext cx="2505456" cy="2743200"/>
          </a:xfrm>
          <a:prstGeom prst="roundRect">
            <a:avLst>
              <a:gd name="adj" fmla="val 4380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p/>
        </p:txBody>
      </p:sp>
      <p:sp>
        <p:nvSpPr>
          <p:cNvPr id="16" name="Text 13"/>
          <p:cNvSpPr txBox="1"/>
          <p:nvPr/>
        </p:nvSpPr>
        <p:spPr>
          <a:xfrm>
            <a:off x="6483096" y="19933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6483096" y="2331720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6 000</a:t>
            </a:r>
            <a:endParaRPr lang="en-US" sz="2800" dirty="0"/>
          </a:p>
        </p:txBody>
      </p:sp>
      <p:sp>
        <p:nvSpPr>
          <p:cNvPr id="18" name="Text 15"/>
          <p:cNvSpPr txBox="1"/>
          <p:nvPr/>
        </p:nvSpPr>
        <p:spPr>
          <a:xfrm>
            <a:off x="6483096" y="2880360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483096" y="3291840"/>
            <a:ext cx="20482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binaire columnaire : prix, catégorie, note et stock.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997696" y="1783080"/>
            <a:ext cx="2505456" cy="2743200"/>
          </a:xfrm>
          <a:prstGeom prst="roundRect">
            <a:avLst>
              <a:gd name="adj" fmla="val 4380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p/>
        </p:txBody>
      </p:sp>
      <p:sp>
        <p:nvSpPr>
          <p:cNvPr id="21" name="Text 18"/>
          <p:cNvSpPr txBox="1"/>
          <p:nvPr/>
        </p:nvSpPr>
        <p:spPr>
          <a:xfrm>
            <a:off x="9253728" y="19933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9253728" y="2331720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</a:t>
            </a:r>
            <a:endParaRPr lang="en-US" sz="2800" dirty="0"/>
          </a:p>
        </p:txBody>
      </p:sp>
      <p:sp>
        <p:nvSpPr>
          <p:cNvPr id="23" name="Text 20"/>
          <p:cNvSpPr txBox="1"/>
          <p:nvPr/>
        </p:nvSpPr>
        <p:spPr>
          <a:xfrm>
            <a:off x="9253728" y="2880360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Marchands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9253728" y="3291840"/>
            <a:ext cx="20482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inféré par Spark : catégorie, région, taux de commission.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85800" y="4754880"/>
            <a:ext cx="10817352" cy="1280160"/>
          </a:xfrm>
          <a:prstGeom prst="roundRect">
            <a:avLst>
              <a:gd name="adj" fmla="val 8571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p/>
        </p:txBody>
      </p:sp>
      <p:sp>
        <p:nvSpPr>
          <p:cNvPr id="26" name="Text 23"/>
          <p:cNvSpPr txBox="1"/>
          <p:nvPr/>
        </p:nvSpPr>
        <p:spPr>
          <a:xfrm>
            <a:off x="1005840" y="4983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source est lue en Dataset[T] typé, via une case class dédiée.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1005840" y="5349240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chemin n’est codé en dur : tous proviennent d’application.conf, lu par ConfigLoader (question 7.1). Les erreurs de lecture sont capturées et signalées sans interrompre le reste du pipeline.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1122883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9079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et rapport de qualité</a:t>
            </a:r>
            <a:endParaRPr lang="en-US" sz="3000" dirty="0"/>
          </a:p>
        </p:txBody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5832" y="548640"/>
            <a:ext cx="1417320" cy="52395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109728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lignes rejetées ne sont pas perdues : elles sortent avec le motif du rejet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67665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005840"/>
                <a:gridCol w="1051560"/>
                <a:gridCol w="1051560"/>
                <a:gridCol w="1143000"/>
                <a:gridCol w="96012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Rejetées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 de rejet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Valeurs nulles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138 047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136 157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1 890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1,37 %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Utilisateurs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11 655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2,88 %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Produits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5 821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2,98 %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Marchands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2,33 %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726680" y="1783080"/>
            <a:ext cx="3776472" cy="3063240"/>
          </a:xfrm>
          <a:prstGeom prst="roundRect">
            <a:avLst>
              <a:gd name="adj" fmla="val 3582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p/>
        </p:txBody>
      </p:sp>
      <p:sp>
        <p:nvSpPr>
          <p:cNvPr id="7" name="Text 3"/>
          <p:cNvSpPr txBox="1"/>
          <p:nvPr/>
        </p:nvSpPr>
        <p:spPr>
          <a:xfrm>
            <a:off x="8001000" y="1965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Motifs de rejet des transactions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8001000" y="24231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1 190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9052560" y="24780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≤ 0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8001000" y="308152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690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9052560" y="31363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≠ 14 caractères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8001000" y="373989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9052560" y="3794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motifs à la fois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8001000" y="43434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condition nulle compte comme un rejet : sans cela la ligne disparaîtrait des deux jeux.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51663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fonction de validation renvoie un couple (valides, rejetées + colonne rejection_reason). Le rapport est affiché en console et exporté en CSV dans output/data_quality_report.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1122883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9079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avancées</a:t>
            </a:r>
            <a:endParaRPr lang="en-US" sz="3000" dirty="0"/>
          </a:p>
        </p:txBody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5832" y="548640"/>
            <a:ext cx="1417320" cy="52395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109728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Enrichissement des 136 157 transactions validées, sans en perdre une seule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85800" y="1783080"/>
            <a:ext cx="3410712" cy="2971800"/>
          </a:xfrm>
          <a:prstGeom prst="roundRect">
            <a:avLst>
              <a:gd name="adj" fmla="val 3692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p/>
        </p:txBody>
      </p:sp>
      <p:sp>
        <p:nvSpPr>
          <p:cNvPr id="6" name="Text 3"/>
          <p:cNvSpPr txBox="1"/>
          <p:nvPr/>
        </p:nvSpPr>
        <p:spPr>
          <a:xfrm>
            <a:off x="960120" y="1993392"/>
            <a:ext cx="2862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UDF extractTimeFeatures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2423160"/>
            <a:ext cx="28620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chaîne yyyyMMddHHmmss devient six caractéristiques : heure, jour, mois, week-end, période de la journée, heures ouvrées.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794760"/>
            <a:ext cx="2862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 : une valeur nulle ou mal formée donne des colonnes nulles, jamais une erreur.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79976" y="1783080"/>
            <a:ext cx="3410712" cy="2971800"/>
          </a:xfrm>
          <a:prstGeom prst="roundRect">
            <a:avLst>
              <a:gd name="adj" fmla="val 3692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p/>
        </p:txBody>
      </p:sp>
      <p:sp>
        <p:nvSpPr>
          <p:cNvPr id="10" name="Text 7"/>
          <p:cNvSpPr txBox="1"/>
          <p:nvPr/>
        </p:nvSpPr>
        <p:spPr>
          <a:xfrm>
            <a:off x="4654296" y="1993392"/>
            <a:ext cx="2862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Jointures d’enrichissement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654296" y="2423160"/>
            <a:ext cx="28620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depuis les transactions vers les utilisateurs, produits et marchands, les trois tables étant diffusées (broadcast).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654296" y="3794760"/>
            <a:ext cx="2862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vérifié : autant de lignes en sortie qu’en entrée.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074152" y="1783080"/>
            <a:ext cx="3410712" cy="2971800"/>
          </a:xfrm>
          <a:prstGeom prst="roundRect">
            <a:avLst>
              <a:gd name="adj" fmla="val 3692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p/>
        </p:txBody>
      </p:sp>
      <p:sp>
        <p:nvSpPr>
          <p:cNvPr id="14" name="Text 11"/>
          <p:cNvSpPr txBox="1"/>
          <p:nvPr/>
        </p:nvSpPr>
        <p:spPr>
          <a:xfrm>
            <a:off x="8348472" y="1993392"/>
            <a:ext cx="2862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de fenêtrage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348472" y="2423160"/>
            <a:ext cx="28620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 chronologique et nombre d’achats par client, montant cumulé sur 7 jours glissants, délai depuis l’achat précédent.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348472" y="3794760"/>
            <a:ext cx="2862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countDistinct étant interdit sur une fenêtre, les jours distincts passent par collect_set.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507492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tranche d’âge du client est calculée ici : Jeune, Adulte, Âge Moyen, Senior — et Inconnu lorsque l’utilisateur est absent du référentiel.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122883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9079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par marchand</a:t>
            </a:r>
            <a:endParaRPr lang="en-US" sz="3000" dirty="0"/>
          </a:p>
        </p:txBody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5832" y="548640"/>
            <a:ext cx="1417320" cy="52395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109728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 d’affaires, fréquentation et classements par catégorie et par région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74520"/>
          <a:ext cx="1081735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737360"/>
                <a:gridCol w="2834640"/>
                <a:gridCol w="1920240"/>
                <a:gridCol w="1143000"/>
                <a:gridCol w="89611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Marchand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Catégorie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Région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Chiffre d’affaires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Clients uniques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TechStore 225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592 105 €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DigitalHub 258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Provence-Alpes-Côte d’Azur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553 077 €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ElectroWorld 559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Île-de-France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543 545 €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TechStore 112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Provence-Alpes-Côte d’Azur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476 067 €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GadgetShop 262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Provence-Alpes-Côte d’Azur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471 950 €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85800" y="5166360"/>
            <a:ext cx="10817352" cy="1051560"/>
          </a:xfrm>
          <a:prstGeom prst="roundRect">
            <a:avLst>
              <a:gd name="adj" fmla="val 10435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p/>
        </p:txBody>
      </p:sp>
      <p:sp>
        <p:nvSpPr>
          <p:cNvPr id="7" name="Text 3"/>
          <p:cNvSpPr txBox="1"/>
          <p:nvPr/>
        </p:nvSpPr>
        <p:spPr>
          <a:xfrm>
            <a:off x="1005840" y="5376672"/>
            <a:ext cx="10177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métier : les cinq premiers marchands relèvent tous de l’électronique. Le classement par catégorie et par région, calculé par fonction de fenêtrage, permet de comparer chaque marchand à ses concurrents directs plutôt qu’au marché entier.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22883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9079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Rétention par cohorte</a:t>
            </a:r>
            <a:endParaRPr lang="en-US" sz="3000" dirty="0"/>
          </a:p>
        </p:txBody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5832" y="548640"/>
            <a:ext cx="1417320" cy="52395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109728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clients sont regroupés par mois de première transaction, puis suivis mois après mois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85800" y="1737360"/>
            <a:ext cx="7406640" cy="4069080"/>
          </a:xfrm>
          <a:prstGeom prst="roundRect">
            <a:avLst>
              <a:gd name="adj" fmla="val 2697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p/>
        </p:txBody>
      </p:sp>
      <p:sp>
        <p:nvSpPr>
          <p:cNvPr id="6" name="Text 3"/>
          <p:cNvSpPr txBox="1"/>
          <p:nvPr/>
        </p:nvSpPr>
        <p:spPr>
          <a:xfrm>
            <a:off x="100584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Cohorte 2024-01 — 680 clients initiaux</a:t>
            </a:r>
            <a:endParaRPr lang="en-US" sz="1250" dirty="0"/>
          </a:p>
        </p:txBody>
      </p:sp>
      <p:pic>
        <p:nvPicPr>
          <p:cNvPr id="7" name="Image 1" descr="reten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240280"/>
            <a:ext cx="6949440" cy="34290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321040" y="1737360"/>
            <a:ext cx="3182112" cy="1234440"/>
          </a:xfrm>
          <a:prstGeom prst="roundRect">
            <a:avLst>
              <a:gd name="adj" fmla="val 8889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p/>
        </p:txBody>
      </p:sp>
      <p:sp>
        <p:nvSpPr>
          <p:cNvPr id="9" name="Text 5"/>
          <p:cNvSpPr txBox="1"/>
          <p:nvPr/>
        </p:nvSpPr>
        <p:spPr>
          <a:xfrm>
            <a:off x="8595360" y="1874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43,1 %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23042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cohorte revient dès le mois 1 — la perte se joue là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8321040" y="3154680"/>
            <a:ext cx="3182112" cy="1234440"/>
          </a:xfrm>
          <a:prstGeom prst="roundRect">
            <a:avLst>
              <a:gd name="adj" fmla="val 8889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p/>
        </p:txBody>
      </p:sp>
      <p:sp>
        <p:nvSpPr>
          <p:cNvPr id="12" name="Text 8"/>
          <p:cNvSpPr txBox="1"/>
          <p:nvPr/>
        </p:nvSpPr>
        <p:spPr>
          <a:xfrm>
            <a:off x="8595360" y="3291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36,2 %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8595360" y="37216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meilleure rétention à 3 mois, cohorte 2025-06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321040" y="4572000"/>
            <a:ext cx="3182112" cy="1234440"/>
          </a:xfrm>
          <a:prstGeom prst="roundRect">
            <a:avLst>
              <a:gd name="adj" fmla="val 8889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p/>
        </p:txBody>
      </p:sp>
      <p:sp>
        <p:nvSpPr>
          <p:cNvPr id="15" name="Text 11"/>
          <p:cNvSpPr txBox="1"/>
          <p:nvPr/>
        </p:nvSpPr>
        <p:spPr>
          <a:xfrm>
            <a:off x="8595360" y="47091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3,1 %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8595360" y="51389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socle de clients encore actifs après 19 mois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685800" y="594360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cohorte récente n’a pas encore de valeur à 19 mois : la matrice se lit en diagonale, pas en colonne.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1122883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9079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Optimisations et exécution</a:t>
            </a:r>
            <a:endParaRPr lang="en-US" sz="3000" dirty="0"/>
          </a:p>
        </p:txBody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5832" y="548640"/>
            <a:ext cx="1417320" cy="52395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109728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pipeline complet s’exécute en moins d’une minute en local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85800" y="1783080"/>
            <a:ext cx="5257800" cy="1554480"/>
          </a:xfrm>
          <a:prstGeom prst="roundRect">
            <a:avLst>
              <a:gd name="adj" fmla="val 7059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p/>
        </p:txBody>
      </p:sp>
      <p:sp>
        <p:nvSpPr>
          <p:cNvPr id="6" name="Text 3"/>
          <p:cNvSpPr txBox="1"/>
          <p:nvPr/>
        </p:nvSpPr>
        <p:spPr>
          <a:xfrm>
            <a:off x="1005840" y="203911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des tables de référence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2441448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trois référentiels tiennent en mémoire : ils sont diffusés aux exécuteurs plutôt que de redistribuer 138 000 transactions à chaque jointure.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45352" y="1783080"/>
            <a:ext cx="5257800" cy="1554480"/>
          </a:xfrm>
          <a:prstGeom prst="roundRect">
            <a:avLst>
              <a:gd name="adj" fmla="val 7059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p/>
        </p:txBody>
      </p:sp>
      <p:sp>
        <p:nvSpPr>
          <p:cNvPr id="9" name="Text 6"/>
          <p:cNvSpPr txBox="1"/>
          <p:nvPr/>
        </p:nvSpPr>
        <p:spPr>
          <a:xfrm>
            <a:off x="6565392" y="203911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mémoire et disque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565392" y="2441448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transactions validées et le jeu enrichi sont persistés, puis libérés en fin de traitement.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85800" y="3657600"/>
            <a:ext cx="5257800" cy="1554480"/>
          </a:xfrm>
          <a:prstGeom prst="roundRect">
            <a:avLst>
              <a:gd name="adj" fmla="val 7059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p/>
        </p:txBody>
      </p:sp>
      <p:sp>
        <p:nvSpPr>
          <p:cNvPr id="12" name="Text 9"/>
          <p:cNvSpPr txBox="1"/>
          <p:nvPr/>
        </p:nvSpPr>
        <p:spPr>
          <a:xfrm>
            <a:off x="1005840" y="391363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Partitions de shuffle réduites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" y="4315968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spark.sql.shuffle.partitions ramené de 200 à 8 : sur ce volume, 200 partitions coûtent plus qu’elles ne rapportent.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45352" y="3657600"/>
            <a:ext cx="5257800" cy="1554480"/>
          </a:xfrm>
          <a:prstGeom prst="roundRect">
            <a:avLst>
              <a:gd name="adj" fmla="val 7059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p/>
        </p:txBody>
      </p:sp>
      <p:sp>
        <p:nvSpPr>
          <p:cNvPr id="15" name="Text 12"/>
          <p:cNvSpPr txBox="1"/>
          <p:nvPr/>
        </p:nvSpPr>
        <p:spPr>
          <a:xfrm>
            <a:off x="6565392" y="391363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unique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565392" y="4315968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MainApp enchaîne les six étapes, capture les erreurs et arrête proprement la SparkSession.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544068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 : un JAR autonome généré par sbt assembly, exécutable via spark-submit.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122883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9079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du groupe</a:t>
            </a:r>
            <a:endParaRPr lang="en-US" sz="3000" dirty="0"/>
          </a:p>
        </p:txBody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5832" y="548640"/>
            <a:ext cx="1417320" cy="52395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109728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lots, un propriétaire par lot, une relecture par un autre membre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85800" y="1783080"/>
            <a:ext cx="2505456" cy="2560320"/>
          </a:xfrm>
          <a:prstGeom prst="roundRect">
            <a:avLst>
              <a:gd name="adj" fmla="val 4380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p/>
        </p:txBody>
      </p:sp>
      <p:sp>
        <p:nvSpPr>
          <p:cNvPr id="6" name="Shape 3"/>
          <p:cNvSpPr/>
          <p:nvPr/>
        </p:nvSpPr>
        <p:spPr>
          <a:xfrm>
            <a:off x="941832" y="2011680"/>
            <a:ext cx="384048" cy="384048"/>
          </a:xfrm>
          <a:prstGeom prst="ellipse">
            <a:avLst/>
          </a:prstGeom>
          <a:solidFill>
            <a:srgbClr val="141E33"/>
          </a:solidFill>
          <a:ln w="12700">
            <a:solidFill>
              <a:srgbClr val="38BDF8"/>
            </a:solidFill>
            <a:prstDash val="solid"/>
          </a:ln>
        </p:spPr>
        <p:txBody>
          <a:bodyPr anchor="t"/>
          <a:p/>
        </p:txBody>
      </p:sp>
      <p:sp>
        <p:nvSpPr>
          <p:cNvPr id="7" name="Text 4"/>
          <p:cNvSpPr txBox="1"/>
          <p:nvPr/>
        </p:nvSpPr>
        <p:spPr>
          <a:xfrm>
            <a:off x="941832" y="205740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41832" y="2514600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BOSENGA Don-Christ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941832" y="306324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Ingestion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941832" y="338328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à 1.3 · 2.1 · 2.3 · 7.1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56432" y="1783080"/>
            <a:ext cx="2505456" cy="2560320"/>
          </a:xfrm>
          <a:prstGeom prst="roundRect">
            <a:avLst>
              <a:gd name="adj" fmla="val 4380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p/>
        </p:txBody>
      </p:sp>
      <p:sp>
        <p:nvSpPr>
          <p:cNvPr id="12" name="Shape 9"/>
          <p:cNvSpPr/>
          <p:nvPr/>
        </p:nvSpPr>
        <p:spPr>
          <a:xfrm>
            <a:off x="3712464" y="2011680"/>
            <a:ext cx="384048" cy="384048"/>
          </a:xfrm>
          <a:prstGeom prst="ellipse">
            <a:avLst/>
          </a:prstGeom>
          <a:solidFill>
            <a:srgbClr val="141E33"/>
          </a:solidFill>
          <a:ln w="12700">
            <a:solidFill>
              <a:srgbClr val="38BDF8"/>
            </a:solidFill>
            <a:prstDash val="solid"/>
          </a:ln>
        </p:spPr>
        <p:txBody>
          <a:bodyPr anchor="t"/>
          <a:p/>
        </p:txBody>
      </p:sp>
      <p:sp>
        <p:nvSpPr>
          <p:cNvPr id="13" name="Text 10"/>
          <p:cNvSpPr txBox="1"/>
          <p:nvPr/>
        </p:nvSpPr>
        <p:spPr>
          <a:xfrm>
            <a:off x="3712464" y="205740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712464" y="2514600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ADIGBONON Thérèse Rodica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712464" y="306324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Cohortes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3712464" y="338328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· 2.4 · 4.2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227064" y="1783080"/>
            <a:ext cx="2505456" cy="2560320"/>
          </a:xfrm>
          <a:prstGeom prst="roundRect">
            <a:avLst>
              <a:gd name="adj" fmla="val 4380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p/>
        </p:txBody>
      </p:sp>
      <p:sp>
        <p:nvSpPr>
          <p:cNvPr id="18" name="Shape 15"/>
          <p:cNvSpPr/>
          <p:nvPr/>
        </p:nvSpPr>
        <p:spPr>
          <a:xfrm>
            <a:off x="6483096" y="2011680"/>
            <a:ext cx="384048" cy="384048"/>
          </a:xfrm>
          <a:prstGeom prst="ellipse">
            <a:avLst/>
          </a:prstGeom>
          <a:solidFill>
            <a:srgbClr val="141E33"/>
          </a:solidFill>
          <a:ln w="12700">
            <a:solidFill>
              <a:srgbClr val="38BDF8"/>
            </a:solidFill>
            <a:prstDash val="solid"/>
          </a:ln>
        </p:spPr>
        <p:txBody>
          <a:bodyPr anchor="t"/>
          <a:p/>
        </p:txBody>
      </p:sp>
      <p:sp>
        <p:nvSpPr>
          <p:cNvPr id="19" name="Text 16"/>
          <p:cNvSpPr txBox="1"/>
          <p:nvPr/>
        </p:nvSpPr>
        <p:spPr>
          <a:xfrm>
            <a:off x="6483096" y="205740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483096" y="2514600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DOUTI Dabilibe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483096" y="306324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6483096" y="338328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· 3.2 · 3.3 · bonus 3.4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997696" y="1783080"/>
            <a:ext cx="2505456" cy="2560320"/>
          </a:xfrm>
          <a:prstGeom prst="roundRect">
            <a:avLst>
              <a:gd name="adj" fmla="val 4380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p/>
        </p:txBody>
      </p:sp>
      <p:sp>
        <p:nvSpPr>
          <p:cNvPr id="24" name="Shape 21"/>
          <p:cNvSpPr/>
          <p:nvPr/>
        </p:nvSpPr>
        <p:spPr>
          <a:xfrm>
            <a:off x="9253728" y="2011680"/>
            <a:ext cx="384048" cy="384048"/>
          </a:xfrm>
          <a:prstGeom prst="ellipse">
            <a:avLst/>
          </a:prstGeom>
          <a:solidFill>
            <a:srgbClr val="141E33"/>
          </a:solidFill>
          <a:ln w="12700">
            <a:solidFill>
              <a:srgbClr val="38BDF8"/>
            </a:solidFill>
            <a:prstDash val="solid"/>
          </a:ln>
        </p:spPr>
        <p:txBody>
          <a:bodyPr anchor="t"/>
          <a:p/>
        </p:txBody>
      </p:sp>
      <p:sp>
        <p:nvSpPr>
          <p:cNvPr id="25" name="Text 22"/>
          <p:cNvSpPr txBox="1"/>
          <p:nvPr/>
        </p:nvSpPr>
        <p:spPr>
          <a:xfrm>
            <a:off x="9253728" y="205740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9253728" y="2514600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CISSE Abdoulahi Dioro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9253728" y="306324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Orchestration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9253728" y="338328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· 5.1 · 5.2 · 6.1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85800" y="4663440"/>
            <a:ext cx="10817352" cy="137160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p/>
        </p:txBody>
      </p:sp>
      <p:sp>
        <p:nvSpPr>
          <p:cNvPr id="30" name="Text 27"/>
          <p:cNvSpPr txBox="1"/>
          <p:nvPr/>
        </p:nvSpPr>
        <p:spPr>
          <a:xfrm>
            <a:off x="1005840" y="4846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1005840" y="5166360"/>
            <a:ext cx="10177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membre commite depuis son poste sous son propre nom : la contribution de chacun est lisible dans git log. Les relectures croisées sont datées et motivées dans CONTRIBUTIONS.md, où figurent aussi les décisions techniques du groupe.</a:t>
            </a:r>
            <a:endParaRPr lang="en-US" sz="1150" dirty="0"/>
          </a:p>
        </p:txBody>
      </p:sp>
      <p:sp>
        <p:nvSpPr>
          <p:cNvPr id="32" name="Text 29"/>
          <p:cNvSpPr txBox="1"/>
          <p:nvPr/>
        </p:nvSpPr>
        <p:spPr>
          <a:xfrm>
            <a:off x="1122883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9079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Décisions techniques</a:t>
            </a:r>
            <a:endParaRPr lang="en-US" sz="3000" dirty="0"/>
          </a:p>
        </p:txBody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5832" y="548640"/>
            <a:ext cx="1417320" cy="52395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109728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 choix structurants, et pourquoi nous les avons faits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783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1234440" y="17830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3.5.3 · Scala 2.12.18 · Java 17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257800" y="1783080"/>
            <a:ext cx="6245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Combinaison stable et documentée. Spark ne supporte pas Java au-delà de 17, contrainte qui a coûté une matinée de mise au point.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85800" y="2587752"/>
            <a:ext cx="10817352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  <p:txBody>
          <a:bodyPr anchor="t"/>
          <a:p/>
        </p:txBody>
      </p:sp>
      <p:sp>
        <p:nvSpPr>
          <p:cNvPr id="9" name="Text 6"/>
          <p:cNvSpPr txBox="1"/>
          <p:nvPr/>
        </p:nvSpPr>
        <p:spPr>
          <a:xfrm>
            <a:off x="685800" y="2697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26974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depuis les transactions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257800" y="2697480"/>
            <a:ext cx="6245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transaction dont le client ou le marchand est absent du référentiel reste un achat réel : elle est conservée avec des attributs nuls plutôt que supprimée.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85800" y="3502152"/>
            <a:ext cx="10817352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  <p:txBody>
          <a:bodyPr anchor="t"/>
          <a:p/>
        </p:txBody>
      </p:sp>
      <p:sp>
        <p:nvSpPr>
          <p:cNvPr id="13" name="Text 10"/>
          <p:cNvSpPr txBox="1"/>
          <p:nvPr/>
        </p:nvSpPr>
        <p:spPr>
          <a:xfrm>
            <a:off x="685800" y="3611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234440" y="36118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de référence diffusées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257800" y="3611880"/>
            <a:ext cx="6245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12 000, 6 000 et 600 lignes tiennent en mémoire : le broadcast évite trois redistributions du jeu de transactions.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85800" y="4416552"/>
            <a:ext cx="10817352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  <p:txBody>
          <a:bodyPr anchor="t"/>
          <a:p/>
        </p:txBody>
      </p:sp>
      <p:sp>
        <p:nvSpPr>
          <p:cNvPr id="17" name="Text 14"/>
          <p:cNvSpPr txBox="1"/>
          <p:nvPr/>
        </p:nvSpPr>
        <p:spPr>
          <a:xfrm>
            <a:off x="685800" y="4526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234440" y="45262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Sorties en CSV avec en-tête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257800" y="4526280"/>
            <a:ext cx="6245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livrables sont destinés à une équipe métier et tiennent en quelques lignes : le Parquet n’apporterait rien ici, il est réservé au jeu enrichi.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85800" y="5330952"/>
            <a:ext cx="10817352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  <p:txBody>
          <a:bodyPr anchor="t"/>
          <a:p/>
        </p:txBody>
      </p:sp>
      <p:sp>
        <p:nvSpPr>
          <p:cNvPr id="21" name="Text 18"/>
          <p:cNvSpPr txBox="1"/>
          <p:nvPr/>
        </p:nvSpPr>
        <p:spPr>
          <a:xfrm>
            <a:off x="685800" y="5440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234440" y="54406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 par sbt assembly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5257800" y="5440680"/>
            <a:ext cx="6245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artefact autonome embarquant les dépendances, exécutable par spark-submit sans installation préalable.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1122883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9079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et limites</a:t>
            </a:r>
            <a:endParaRPr lang="en-US" sz="3000" dirty="0"/>
          </a:p>
        </p:txBody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5832" y="548640"/>
            <a:ext cx="1417320" cy="52395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109728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fonctionne, et ce que nous savons devoir surveiller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85800" y="1783080"/>
            <a:ext cx="5294376" cy="3017520"/>
          </a:xfrm>
          <a:prstGeom prst="roundRect">
            <a:avLst>
              <a:gd name="adj" fmla="val 3636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p/>
        </p:txBody>
      </p:sp>
      <p:sp>
        <p:nvSpPr>
          <p:cNvPr id="6" name="Text 3"/>
          <p:cNvSpPr txBox="1"/>
          <p:nvPr/>
        </p:nvSpPr>
        <p:spPr>
          <a:xfrm>
            <a:off x="1005840" y="19659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237744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 exécuté de bout en bout, ingestion comprise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ligne perdue : rejets isolés et motivés, invariants vérifiés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Chemins et seuils entièrement externalisés dans application.conf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Programmes de vérification dédiés pour la validation et la partie 3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08776" y="1783080"/>
            <a:ext cx="5294376" cy="3017520"/>
          </a:xfrm>
          <a:prstGeom prst="roundRect">
            <a:avLst>
              <a:gd name="adj" fmla="val 3636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p/>
        </p:txBody>
      </p:sp>
      <p:sp>
        <p:nvSpPr>
          <p:cNvPr id="9" name="Text 6"/>
          <p:cNvSpPr txBox="1"/>
          <p:nvPr/>
        </p:nvSpPr>
        <p:spPr>
          <a:xfrm>
            <a:off x="6528816" y="19659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assumées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528816" y="237744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validation ne contrôle que la longueur de l’horodatage, pas sa validité de calendrier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KPI marchands regroupent sur la catégorie de la transaction, qui coïncide ici avec celle du marchand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montants sont des Double : arrondis flottants visibles sur les cumuls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Exécution en local[*] : les gains du broadcast restent théoriques sans vrai cluster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122883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14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8803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7947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3 — Système d’analyse de données e-commerce · DIT, Master 1</a:t>
            </a:r>
            <a:endParaRPr lang="en-US" sz="1400" dirty="0"/>
          </a:p>
        </p:txBody>
      </p:sp>
      <p:pic>
        <p:nvPicPr>
          <p:cNvPr id="5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2" y="5394960"/>
            <a:ext cx="2194560" cy="81198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22883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2026-09-04T21:34:35Z</dcterms:created>
  <dcterms:modified xsi:type="dcterms:W3CDTF">2026-09-04T21:34:35Z</dcterms:modified>
</cp:coreProperties>
</file>